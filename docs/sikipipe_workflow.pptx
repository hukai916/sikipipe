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59" r:id="rId6"/>
    <p:sldId id="260" r:id="rId7"/>
    <p:sldId id="266" r:id="rId8"/>
    <p:sldId id="264" r:id="rId9"/>
    <p:sldId id="265" r:id="rId10"/>
    <p:sldId id="262" r:id="rId11"/>
    <p:sldId id="267" r:id="rId12"/>
    <p:sldId id="268" r:id="rId13"/>
    <p:sldId id="269" r:id="rId14"/>
    <p:sldId id="270" r:id="rId15"/>
    <p:sldId id="271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C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23"/>
    <p:restoredTop sz="88252"/>
  </p:normalViewPr>
  <p:slideViewPr>
    <p:cSldViewPr snapToGrid="0">
      <p:cViewPr>
        <p:scale>
          <a:sx n="173" d="100"/>
          <a:sy n="173" d="100"/>
        </p:scale>
        <p:origin x="-3336" y="-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717F4-5D08-5547-B31A-F4D015D18FD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02CDD-3B5F-AC46-8D51-ABC59D515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2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1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67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Cas9 originally needs two RNAs: crRNA(</a:t>
            </a:r>
            <a:r>
              <a:rPr lang="en-US" dirty="0" err="1"/>
              <a:t>crisprRNA</a:t>
            </a:r>
            <a:r>
              <a:rPr lang="en-US" dirty="0"/>
              <a:t>) for targeting DNA site, and a structural component called </a:t>
            </a:r>
            <a:r>
              <a:rPr lang="en-US" dirty="0" err="1"/>
              <a:t>tracrRNA</a:t>
            </a:r>
            <a:r>
              <a:rPr lang="en-US" dirty="0"/>
              <a:t> (trans-activating </a:t>
            </a:r>
            <a:r>
              <a:rPr lang="en-US" dirty="0" err="1"/>
              <a:t>crispr</a:t>
            </a:r>
            <a:r>
              <a:rPr lang="en-US" dirty="0"/>
              <a:t> RNA), or a single combined sgRNA.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41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no donor DNA templates, INDEL will be introduced whereas in presence of donor DNA, a specific change can be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5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differences:</a:t>
            </a:r>
          </a:p>
          <a:p>
            <a:pPr marL="228600" indent="-228600">
              <a:buAutoNum type="arabicPeriod"/>
            </a:pPr>
            <a:r>
              <a:rPr lang="en-US" dirty="0"/>
              <a:t>PAM sequences: NGG vs TTN</a:t>
            </a:r>
          </a:p>
          <a:p>
            <a:pPr marL="228600" indent="-228600">
              <a:buAutoNum type="arabicPeriod"/>
            </a:pPr>
            <a:r>
              <a:rPr lang="en-US" dirty="0"/>
              <a:t>Cutting site: 3 bp upstream of PAM vs 18-23bp downstream of PAM</a:t>
            </a:r>
          </a:p>
          <a:p>
            <a:pPr marL="228600" indent="-228600">
              <a:buAutoNum type="arabicPeriod"/>
            </a:pPr>
            <a:r>
              <a:rPr lang="en-US" dirty="0"/>
              <a:t>Cutting efficiency: Cas9 is slightly higher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09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6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goal is to compare the performance of each condition for each target gene the category of insertions and their proportion. And optimally visualize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55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63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abnormal reads: 1. out of size: 1000 – 5000 bp; 2. first 30 </a:t>
            </a:r>
            <a:r>
              <a:rPr lang="en-US" dirty="0" err="1"/>
              <a:t>nt</a:t>
            </a:r>
            <a:r>
              <a:rPr lang="en-US" dirty="0"/>
              <a:t> &gt; 10 </a:t>
            </a:r>
            <a:r>
              <a:rPr lang="en-US" dirty="0" err="1"/>
              <a:t>nt</a:t>
            </a:r>
            <a:r>
              <a:rPr lang="en-US" dirty="0"/>
              <a:t> distance away from expected universal </a:t>
            </a:r>
            <a:r>
              <a:rPr lang="en-US" dirty="0" err="1"/>
              <a:t>nt</a:t>
            </a:r>
            <a:r>
              <a:rPr lang="en-US" dirty="0"/>
              <a:t>; 3. reverse compliment if needed by comparing to 3p-univ and 5p-univ.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84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26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10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2CDD-3B5F-AC46-8D51-ABC59D5154A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9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C356-8220-F63B-B678-147FA8202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1B03D-EB6C-9349-C786-8D9BFEDD3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10009-C1D2-AEAF-01B5-4F22B979A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265F-FBE0-2B9F-81F0-7EB4BC98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B7740-499D-F7F9-3633-CF2FCD69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9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CDB0-9835-710B-AC85-E2423FBC6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719F-E636-731B-CB3D-451CE3DA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9626-9AF2-310F-9B87-42FA7F360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68EC3-BA8D-D3A8-C5F0-341DBDE2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13FF1-9B9A-4544-A51A-B321F3F7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0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6C56-07B1-6C7A-CEC5-B92D46F0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06D2F-1480-2563-FD90-12A2387C7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8508-C205-993C-E3B9-AC408B22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EA873-A245-B7EE-34A4-ED6F2CEB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4ADE-162B-B6B0-9789-90C81BA9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7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3311-5928-1BDA-7243-844421AD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A13DB-8367-36C3-99E4-1CEE2FED9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4EE74-2E28-1D58-C7E1-1552867E0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17E76-3A0A-9E14-2564-8C9DE66F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C6CA6-4FF2-1CC3-0101-42F81F46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196E0-8B50-712E-9BAC-0A7372EB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5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6E982-FC04-D137-C5A1-12E266E1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27456-0244-8DD1-5A16-46EC479C1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6083E-D31C-321E-DF08-0DC5A22C3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0E7DBD-CEED-E9CD-BAC3-090094C5A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C1E73-28FD-7126-DABA-B79571424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DABC7-4D48-DE24-10A9-62A2ECB3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87AF3-4A0C-6C16-4121-6E9632F8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2CF1B-1F2B-09B6-FA8A-C0A569B2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9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9790-CE08-29B5-0D3D-F3B7ECB5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7C188-B87F-B301-A0CC-1EF917A4D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BEEDA-86A3-F741-9C55-BB2F0A3A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7EC76-135A-A554-2A0F-36A06E59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7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26D06B-6045-1422-AA51-D680D8B8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B83B8-D28C-90EC-B70C-C057F002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87CB0-81B7-D4C4-EAB7-2E55017A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6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5F50-8A90-B319-F047-1181E9A3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977D-2104-7E2D-6789-181071495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7A5DB-FF0E-8829-3175-4A85482DA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3DF2A-DF42-34D4-0766-9EA4E81B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4E5ED-CFAF-1C86-FD52-626E82A3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DBE59-3EB2-1CD7-1BDD-6DA285B2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7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906A-DF66-8EC2-8A53-61A3B2E5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A20AE-AD20-1C31-D575-933BE8F94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BB2D1-9882-F0F7-CA90-66080438D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7EEAE-87E8-A233-1C5C-9D861E80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8F876-5420-D485-A9D5-127667A2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163B4-BFA9-63C1-6B49-3CFBC696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4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151F-59EC-1DCC-3F4F-C68B1F1E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C8D20-7281-6404-6F1E-0ADA816DB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79F8A-EF70-9D75-3121-AD9C45FF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2245-F8F7-6ACE-2326-30D2921F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4AC37-3B0B-C208-D2B3-C3DD9868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9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FA26E-1043-C873-C400-617ABCC54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640A1-EFE2-40F7-65DF-F96EF20DB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1375C-3B81-6D23-922A-B4C9F5A5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6D90C-D39B-FE22-393C-8410B23B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CC9BE-8CD3-6E69-B091-CBAA26F16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4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84C75-7563-0B3D-7E8D-BA21B4A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71633-295A-241E-0A1B-06A84023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F104E-2CED-69F3-0A77-B00F3EDC8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733A2-939C-8441-ACFE-4D91B1A08EB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038AA-9E83-3238-EB6E-4EDCF3770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A08F9-4497-44B0-1874-B42880911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741F1-4CED-BA4E-B792-B65A5FCCD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markrobinsonuzh/CrispRVariants/tree/maste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ffhussmann/knock-knock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B7A2-ADBE-12E8-7B6C-4E721BF6F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6717"/>
            <a:ext cx="9144000" cy="2387600"/>
          </a:xfrm>
        </p:spPr>
        <p:txBody>
          <a:bodyPr/>
          <a:lstStyle/>
          <a:p>
            <a:r>
              <a:rPr lang="en-US" dirty="0"/>
              <a:t>A brief introduction to the </a:t>
            </a:r>
            <a:br>
              <a:rPr lang="en-US" dirty="0"/>
            </a:br>
            <a:r>
              <a:rPr lang="en-US" dirty="0"/>
              <a:t>SIKI-project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98EDB-8989-B321-4F8A-33FE7B784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72050"/>
            <a:ext cx="9144000" cy="1071562"/>
          </a:xfrm>
        </p:spPr>
        <p:txBody>
          <a:bodyPr>
            <a:normAutofit/>
          </a:bodyPr>
          <a:lstStyle/>
          <a:p>
            <a:r>
              <a:rPr lang="en-US" dirty="0"/>
              <a:t>Kai Hu</a:t>
            </a:r>
          </a:p>
          <a:p>
            <a:r>
              <a:rPr lang="en-US" dirty="0"/>
              <a:t>10/2023</a:t>
            </a:r>
          </a:p>
        </p:txBody>
      </p:sp>
    </p:spTree>
    <p:extLst>
      <p:ext uri="{BB962C8B-B14F-4D97-AF65-F5344CB8AC3E}">
        <p14:creationId xmlns:p14="http://schemas.microsoft.com/office/powerpoint/2010/main" val="82105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5C2B-D560-390B-9D42-88B3E651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collaboration with Lawson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0D22C-CEEB-A0DA-97D8-7B88D73AFE6F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SIKI: </a:t>
            </a:r>
            <a:r>
              <a:rPr lang="en-US" u="sng" dirty="0"/>
              <a:t>S</a:t>
            </a:r>
            <a:r>
              <a:rPr lang="en-US" dirty="0"/>
              <a:t>hort </a:t>
            </a:r>
            <a:r>
              <a:rPr lang="en-US" u="sng" dirty="0"/>
              <a:t>I</a:t>
            </a:r>
            <a:r>
              <a:rPr lang="en-US" dirty="0"/>
              <a:t>nsert </a:t>
            </a:r>
            <a:r>
              <a:rPr lang="en-US" u="sng" dirty="0"/>
              <a:t>K</a:t>
            </a:r>
            <a:r>
              <a:rPr lang="en-US" dirty="0"/>
              <a:t>nock-</a:t>
            </a:r>
            <a:r>
              <a:rPr lang="en-US" u="sng" dirty="0"/>
              <a:t>I</a:t>
            </a:r>
            <a:r>
              <a:rPr lang="en-US" dirty="0"/>
              <a:t>n experiment using CRISPR-Cas system</a:t>
            </a:r>
          </a:p>
          <a:p>
            <a:endParaRPr lang="en-US" dirty="0"/>
          </a:p>
          <a:p>
            <a:r>
              <a:rPr lang="en-US" dirty="0"/>
              <a:t>Overall goal:</a:t>
            </a:r>
          </a:p>
          <a:p>
            <a:pPr lvl="1"/>
            <a:r>
              <a:rPr lang="en-US" dirty="0"/>
              <a:t>to determine optimal conditions for </a:t>
            </a:r>
            <a:r>
              <a:rPr lang="en-US" b="1" dirty="0"/>
              <a:t>targeted knock-in of a short insert sequence</a:t>
            </a:r>
          </a:p>
          <a:p>
            <a:pPr marL="0" indent="0">
              <a:buNone/>
            </a:pPr>
            <a:r>
              <a:rPr lang="en-US" b="1" dirty="0"/>
              <a:t>	</a:t>
            </a:r>
          </a:p>
          <a:p>
            <a:r>
              <a:rPr lang="en-US" dirty="0"/>
              <a:t>Tested variables: </a:t>
            </a:r>
          </a:p>
          <a:p>
            <a:pPr lvl="1"/>
            <a:r>
              <a:rPr lang="en-US" dirty="0"/>
              <a:t>Cas9 vs Cas12</a:t>
            </a:r>
          </a:p>
          <a:p>
            <a:pPr lvl="1"/>
            <a:r>
              <a:rPr lang="en-US" dirty="0"/>
              <a:t>Various target genes: </a:t>
            </a:r>
            <a:r>
              <a:rPr lang="en-US" i="1" dirty="0"/>
              <a:t>ep300a, ep300b, etv2, h3f3d, hey2  </a:t>
            </a:r>
          </a:p>
          <a:p>
            <a:pPr lvl="1"/>
            <a:r>
              <a:rPr lang="en-US" dirty="0"/>
              <a:t>Various donor DNA templates (?): ISce1, </a:t>
            </a:r>
            <a:r>
              <a:rPr lang="en-US" dirty="0" err="1"/>
              <a:t>unigRNA</a:t>
            </a:r>
            <a:r>
              <a:rPr lang="en-US" dirty="0"/>
              <a:t>, mod</a:t>
            </a:r>
          </a:p>
          <a:p>
            <a:pPr lvl="1"/>
            <a:endParaRPr lang="en-US" dirty="0"/>
          </a:p>
          <a:p>
            <a:r>
              <a:rPr lang="en-US" dirty="0"/>
              <a:t>Sequencing platform: PacBio</a:t>
            </a:r>
          </a:p>
        </p:txBody>
      </p:sp>
    </p:spTree>
    <p:extLst>
      <p:ext uri="{BB962C8B-B14F-4D97-AF65-F5344CB8AC3E}">
        <p14:creationId xmlns:p14="http://schemas.microsoft.com/office/powerpoint/2010/main" val="429069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56203-3DF7-B447-CEC3-D618C13F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19" y="2911787"/>
            <a:ext cx="3756376" cy="103442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 editing with CRISPR system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D9A6E-C5D5-9528-F651-8FE49A1BC25D}"/>
              </a:ext>
            </a:extLst>
          </p:cNvPr>
          <p:cNvSpPr txBox="1"/>
          <p:nvPr/>
        </p:nvSpPr>
        <p:spPr>
          <a:xfrm>
            <a:off x="0" y="6488668"/>
            <a:ext cx="750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www.google.com</a:t>
            </a:r>
            <a:r>
              <a:rPr lang="en-US" sz="900" dirty="0"/>
              <a:t>/</a:t>
            </a:r>
            <a:r>
              <a:rPr lang="en-US" sz="900" dirty="0" err="1"/>
              <a:t>url?sa</a:t>
            </a:r>
            <a:r>
              <a:rPr lang="en-US" sz="900" dirty="0"/>
              <a:t>=</a:t>
            </a:r>
            <a:r>
              <a:rPr lang="en-US" sz="900" dirty="0" err="1"/>
              <a:t>i&amp;url</a:t>
            </a:r>
            <a:r>
              <a:rPr lang="en-US" sz="900" dirty="0"/>
              <a:t>=https%3A%2F%2Fwww.mirusbio.com%2Fapplications%2Fgenome-editing-using-crispr-cas&amp;psig=AOvVaw2yIzXdBr-ZFJvje8_uqBFb&amp;ust=1698180204420000&amp;source=</a:t>
            </a:r>
            <a:r>
              <a:rPr lang="en-US" sz="900" dirty="0" err="1"/>
              <a:t>images&amp;cd</a:t>
            </a:r>
            <a:r>
              <a:rPr lang="en-US" sz="900" dirty="0"/>
              <a:t>=</a:t>
            </a:r>
            <a:r>
              <a:rPr lang="en-US" sz="900" dirty="0" err="1"/>
              <a:t>vfe&amp;opi</a:t>
            </a:r>
            <a:r>
              <a:rPr lang="en-US" sz="900" dirty="0"/>
              <a:t>=89978449&amp;ved=0CBAQjRxqFwoTCLiYkraEjYIDFQAAAAAdAAAAABBN</a:t>
            </a:r>
          </a:p>
        </p:txBody>
      </p:sp>
      <p:pic>
        <p:nvPicPr>
          <p:cNvPr id="1026" name="Picture 2" descr="CRISPR/Cas9 Transfection">
            <a:extLst>
              <a:ext uri="{FF2B5EF4-FFF2-40B4-BE49-F238E27FC236}">
                <a16:creationId xmlns:a16="http://schemas.microsoft.com/office/drawing/2014/main" id="{29DB984C-35F3-FC33-C9A5-10CC8D90B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614" y="1344576"/>
            <a:ext cx="6521450" cy="457474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576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Knock-in with Homology-Directed Repair (HDR)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2D6CB3-D326-16CF-EB8C-69C9B1B65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83" y="1963374"/>
            <a:ext cx="5941005" cy="4045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CFED39-5C2E-D1C4-DEE4-6157CD0213E2}"/>
              </a:ext>
            </a:extLst>
          </p:cNvPr>
          <p:cNvSpPr txBox="1"/>
          <p:nvPr/>
        </p:nvSpPr>
        <p:spPr>
          <a:xfrm>
            <a:off x="6172550" y="6488668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blog.addgene.org</a:t>
            </a:r>
            <a:r>
              <a:rPr lang="en-US" dirty="0"/>
              <a:t>/crispr-101-homology-directed-repair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D4F0F7-9390-C9BD-52E6-6CC7E354F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83" y="2649949"/>
            <a:ext cx="5254907" cy="28794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578C6D-D906-87BB-683E-E84D064511F2}"/>
              </a:ext>
            </a:extLst>
          </p:cNvPr>
          <p:cNvSpPr txBox="1"/>
          <p:nvPr/>
        </p:nvSpPr>
        <p:spPr>
          <a:xfrm>
            <a:off x="-68617" y="6488668"/>
            <a:ext cx="6141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/articles/s12276-020-0466-1</a:t>
            </a:r>
          </a:p>
        </p:txBody>
      </p:sp>
    </p:spTree>
    <p:extLst>
      <p:ext uri="{BB962C8B-B14F-4D97-AF65-F5344CB8AC3E}">
        <p14:creationId xmlns:p14="http://schemas.microsoft.com/office/powerpoint/2010/main" val="33414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5C2B-D560-390B-9D42-88B3E651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Cas9 vs Cas12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95FD6F-0858-5B7E-71D8-8F0BA212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86" y="1551539"/>
            <a:ext cx="10653164" cy="43721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FC66C4-4EF1-35F7-0321-F23884381133}"/>
              </a:ext>
            </a:extLst>
          </p:cNvPr>
          <p:cNvSpPr txBox="1"/>
          <p:nvPr/>
        </p:nvSpPr>
        <p:spPr>
          <a:xfrm>
            <a:off x="0" y="6498044"/>
            <a:ext cx="736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www.idtdna.com</a:t>
            </a:r>
            <a:r>
              <a:rPr lang="en-US" dirty="0"/>
              <a:t>/pages/products/</a:t>
            </a:r>
            <a:r>
              <a:rPr lang="en-US" dirty="0" err="1"/>
              <a:t>crispr</a:t>
            </a:r>
            <a:r>
              <a:rPr lang="en-US" dirty="0"/>
              <a:t>-genome-editing</a:t>
            </a:r>
          </a:p>
        </p:txBody>
      </p:sp>
    </p:spTree>
    <p:extLst>
      <p:ext uri="{BB962C8B-B14F-4D97-AF65-F5344CB8AC3E}">
        <p14:creationId xmlns:p14="http://schemas.microsoft.com/office/powerpoint/2010/main" val="736646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D304-F8D6-E73E-3152-0A69C007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Cas9 vs Cas12, Cont’d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34FD6-8F61-6858-35B4-22C5B035B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25" y="1427318"/>
            <a:ext cx="5614575" cy="4941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27F427-F0DF-ADE1-F56E-E977D8F68ABC}"/>
              </a:ext>
            </a:extLst>
          </p:cNvPr>
          <p:cNvSpPr txBox="1"/>
          <p:nvPr/>
        </p:nvSpPr>
        <p:spPr>
          <a:xfrm>
            <a:off x="0" y="5907475"/>
            <a:ext cx="50888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www.technologynetworks.com</a:t>
            </a:r>
            <a:r>
              <a:rPr lang="en-US" dirty="0"/>
              <a:t>/genomics/articles/cas9-or-cas12-picking-the-right-crispr-system-for-your-research-359883</a:t>
            </a:r>
          </a:p>
        </p:txBody>
      </p:sp>
    </p:spTree>
    <p:extLst>
      <p:ext uri="{BB962C8B-B14F-4D97-AF65-F5344CB8AC3E}">
        <p14:creationId xmlns:p14="http://schemas.microsoft.com/office/powerpoint/2010/main" val="2293731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87A2-DEF5-1636-90C9-86D641D0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pic>
        <p:nvPicPr>
          <p:cNvPr id="2050" name="Picture 2" descr="wild type allele — no edits &#10;Expected editing outcomes &#10;ATG &#10;tar et ene &#10;precise integration— intended edit (insertion), no additional edits &#10;imprecise integration &#10;partial insertion &#10;Insertion plus &#10;unintended edits &#10;vector &#10;integration &#10;multiple &#10;integrations &#10;Avitag &#10;Avitag &#10;Avitag &#10;Avitag &#10;Avitag &#10;hinge &#10;hinge &#10;hinge &#10;hinge &#10;hinge &#10;myc &#10;myc &#10;myc &#10;myc &#10;PBS &#10;Avitag &#10;tar et ene &#10;target gene &#10;tar et ene &#10;tar et ene &#10;hinge myc &#10;target gene ">
            <a:extLst>
              <a:ext uri="{FF2B5EF4-FFF2-40B4-BE49-F238E27FC236}">
                <a16:creationId xmlns:a16="http://schemas.microsoft.com/office/drawing/2014/main" id="{7025CBCD-22B4-197C-BC11-14C28BDFB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720" y="1657172"/>
            <a:ext cx="7607969" cy="4346836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78122A-0054-5701-3ACF-D90D09509F26}"/>
              </a:ext>
            </a:extLst>
          </p:cNvPr>
          <p:cNvSpPr txBox="1"/>
          <p:nvPr/>
        </p:nvSpPr>
        <p:spPr>
          <a:xfrm>
            <a:off x="10740189" y="6513179"/>
            <a:ext cx="143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Plot by Sarah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01997-2C4A-226F-1897-ACD137272A04}"/>
              </a:ext>
            </a:extLst>
          </p:cNvPr>
          <p:cNvSpPr txBox="1"/>
          <p:nvPr/>
        </p:nvSpPr>
        <p:spPr>
          <a:xfrm>
            <a:off x="308311" y="1970137"/>
            <a:ext cx="380749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9 conditions</a:t>
            </a:r>
            <a:r>
              <a:rPr lang="en-US" dirty="0"/>
              <a:t>, 3 replicates each condition</a:t>
            </a:r>
          </a:p>
          <a:p>
            <a:pPr lvl="1"/>
            <a:r>
              <a:rPr lang="en-US" sz="1600" dirty="0" err="1"/>
              <a:t>uninjected</a:t>
            </a:r>
            <a:endParaRPr lang="en-US" sz="1600" dirty="0"/>
          </a:p>
          <a:p>
            <a:pPr lvl="1"/>
            <a:r>
              <a:rPr lang="en-US" sz="1600" dirty="0"/>
              <a:t>LbCas12a_no_donor</a:t>
            </a:r>
          </a:p>
          <a:p>
            <a:pPr lvl="1"/>
            <a:r>
              <a:rPr lang="en-US" sz="1600" dirty="0"/>
              <a:t>LbCas12a_ISce1_donor</a:t>
            </a:r>
          </a:p>
          <a:p>
            <a:pPr lvl="1"/>
            <a:r>
              <a:rPr lang="en-US" sz="1600" dirty="0"/>
              <a:t>LbCas12a_unigRNA_donor</a:t>
            </a:r>
          </a:p>
          <a:p>
            <a:pPr lvl="1"/>
            <a:r>
              <a:rPr lang="en-US" sz="1600" dirty="0"/>
              <a:t>LbCas12a_mod_donor</a:t>
            </a:r>
          </a:p>
          <a:p>
            <a:pPr lvl="1"/>
            <a:r>
              <a:rPr lang="en-US" sz="1600" dirty="0"/>
              <a:t>Cas9_no_donor</a:t>
            </a:r>
          </a:p>
          <a:p>
            <a:pPr lvl="1"/>
            <a:r>
              <a:rPr lang="en-US" sz="1600" dirty="0"/>
              <a:t>Cas9_ISce1_donor</a:t>
            </a:r>
          </a:p>
          <a:p>
            <a:pPr lvl="1"/>
            <a:r>
              <a:rPr lang="en-US" sz="1600" dirty="0"/>
              <a:t>Cas9_unigRNA_donor</a:t>
            </a:r>
          </a:p>
          <a:p>
            <a:pPr lvl="1"/>
            <a:r>
              <a:rPr lang="en-US" sz="1600" dirty="0"/>
              <a:t>Cas9_mod_donor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Condition and replicate barcodes have been demultiplexed by sequencing core</a:t>
            </a:r>
          </a:p>
        </p:txBody>
      </p:sp>
    </p:spTree>
    <p:extLst>
      <p:ext uri="{BB962C8B-B14F-4D97-AF65-F5344CB8AC3E}">
        <p14:creationId xmlns:p14="http://schemas.microsoft.com/office/powerpoint/2010/main" val="54464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87A2-DEF5-1636-90C9-86D641D0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Sequencing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1A3EF-D6E1-A007-9ADE-84A5B1F44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5919"/>
            <a:ext cx="10515600" cy="16510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14341-34B3-7733-6F3A-42F36C179E07}"/>
              </a:ext>
            </a:extLst>
          </p:cNvPr>
          <p:cNvSpPr txBox="1"/>
          <p:nvPr/>
        </p:nvSpPr>
        <p:spPr>
          <a:xfrm>
            <a:off x="1164859" y="4584660"/>
            <a:ext cx="983006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52 files in total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SIKI1, SIKI2, SIKI3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3 replicates to access precise targeting efficiency across </a:t>
            </a:r>
            <a:r>
              <a:rPr lang="en-US" sz="1600" b="1" dirty="0"/>
              <a:t>5 different target genes: </a:t>
            </a:r>
            <a:r>
              <a:rPr lang="en-US" sz="1600" b="1" i="1" dirty="0"/>
              <a:t>ep300a, ep300b, etv2, h3f3d, hey2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each </a:t>
            </a:r>
            <a:r>
              <a:rPr lang="en-US" sz="1600" dirty="0" err="1"/>
              <a:t>fastq.gz</a:t>
            </a:r>
            <a:r>
              <a:rPr lang="en-US" sz="1600" dirty="0"/>
              <a:t> should have sequences for all 5 target genes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SIKI5, SIKI6, SIKI7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3 replicates to access targeting efficiency at single target: </a:t>
            </a:r>
            <a:r>
              <a:rPr lang="en-US" sz="1600" b="1" i="1" dirty="0"/>
              <a:t>ep300b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AAAEAC-BFD5-51CC-C707-7B638521722F}"/>
              </a:ext>
            </a:extLst>
          </p:cNvPr>
          <p:cNvSpPr/>
          <p:nvPr/>
        </p:nvSpPr>
        <p:spPr>
          <a:xfrm>
            <a:off x="1197078" y="1730019"/>
            <a:ext cx="2271251" cy="23597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5p universal primer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9EC7C-EB10-7766-8F44-9BB5E635F612}"/>
              </a:ext>
            </a:extLst>
          </p:cNvPr>
          <p:cNvSpPr/>
          <p:nvPr/>
        </p:nvSpPr>
        <p:spPr>
          <a:xfrm>
            <a:off x="8723672" y="1730019"/>
            <a:ext cx="2271251" cy="23597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3p universal primer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83B96F-999C-5009-0CE4-D754C7D3D6E3}"/>
              </a:ext>
            </a:extLst>
          </p:cNvPr>
          <p:cNvSpPr/>
          <p:nvPr/>
        </p:nvSpPr>
        <p:spPr>
          <a:xfrm>
            <a:off x="3468329" y="1730019"/>
            <a:ext cx="762000" cy="23597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UMI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65C4B4-99AF-6296-162F-0E483D28580F}"/>
              </a:ext>
            </a:extLst>
          </p:cNvPr>
          <p:cNvSpPr/>
          <p:nvPr/>
        </p:nvSpPr>
        <p:spPr>
          <a:xfrm>
            <a:off x="4229886" y="1730020"/>
            <a:ext cx="1184787" cy="235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Gene-specific primer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58E87-8889-1441-3182-1345D84A8E71}"/>
              </a:ext>
            </a:extLst>
          </p:cNvPr>
          <p:cNvSpPr/>
          <p:nvPr/>
        </p:nvSpPr>
        <p:spPr>
          <a:xfrm>
            <a:off x="5414673" y="1730020"/>
            <a:ext cx="3308999" cy="2359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80C4E9C-14F5-2A64-BEB7-45B6509775B2}"/>
              </a:ext>
            </a:extLst>
          </p:cNvPr>
          <p:cNvSpPr/>
          <p:nvPr/>
        </p:nvSpPr>
        <p:spPr>
          <a:xfrm rot="5400000">
            <a:off x="5978013" y="-2782745"/>
            <a:ext cx="235973" cy="979784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666CCC-4956-5069-28BF-301D7D44F7BA}"/>
              </a:ext>
            </a:extLst>
          </p:cNvPr>
          <p:cNvSpPr txBox="1"/>
          <p:nvPr/>
        </p:nvSpPr>
        <p:spPr>
          <a:xfrm>
            <a:off x="5646294" y="2187530"/>
            <a:ext cx="89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 2k bp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AD25B06-031F-29EF-4C67-BE25A8743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19194"/>
              </p:ext>
            </p:extLst>
          </p:nvPr>
        </p:nvGraphicFramePr>
        <p:xfrm>
          <a:off x="1197077" y="2680810"/>
          <a:ext cx="9797845" cy="1511300"/>
        </p:xfrm>
        <a:graphic>
          <a:graphicData uri="http://schemas.openxmlformats.org/drawingml/2006/table">
            <a:tbl>
              <a:tblPr/>
              <a:tblGrid>
                <a:gridCol w="676693">
                  <a:extLst>
                    <a:ext uri="{9D8B030D-6E8A-4147-A177-3AD203B41FA5}">
                      <a16:colId xmlns:a16="http://schemas.microsoft.com/office/drawing/2014/main" val="3776849831"/>
                    </a:ext>
                  </a:extLst>
                </a:gridCol>
                <a:gridCol w="4501069">
                  <a:extLst>
                    <a:ext uri="{9D8B030D-6E8A-4147-A177-3AD203B41FA5}">
                      <a16:colId xmlns:a16="http://schemas.microsoft.com/office/drawing/2014/main" val="290244432"/>
                    </a:ext>
                  </a:extLst>
                </a:gridCol>
                <a:gridCol w="1254778">
                  <a:extLst>
                    <a:ext uri="{9D8B030D-6E8A-4147-A177-3AD203B41FA5}">
                      <a16:colId xmlns:a16="http://schemas.microsoft.com/office/drawing/2014/main" val="457949454"/>
                    </a:ext>
                  </a:extLst>
                </a:gridCol>
                <a:gridCol w="3365305">
                  <a:extLst>
                    <a:ext uri="{9D8B030D-6E8A-4147-A177-3AD203B41FA5}">
                      <a16:colId xmlns:a16="http://schemas.microsoft.com/office/drawing/2014/main" val="62510545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UNIVERSAL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UMI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GENESPECIFIC_FPRIMER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3136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5p_ep300a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GCAGTCGAACATGTAGCTGACTCAGGTCAC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NNWNNDDB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AATAACTGGAACGTAAAATCCCTTC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0691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5p_ep300b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GCAGTCGAACATGTAGCTGACTCAGGTCAC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NNWNNDBB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TAAACCATTGAACTTGTCACTTTGA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26234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5p_etv2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GCAGTCGAACATGTAGCTGACTCAGGTCAC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NNWNNHVB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AACAAAACGTTTAGAGTTTGTCCTG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1942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5p_h3f3d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GCAGTCGAACATGTAGCTGACTCAGGTCAC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NNWNNBDV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AATCACGTCTAATGTTTCTTTCAGC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43131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5p_hey2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GCAGTCGAACATGTAGCTGACTCAGGTCAC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NNWNNVHD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CCTCTCCTCTGTTTCTTTTTCATTT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88737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3p_Univ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TGGATCACTTGTGCAAGCATCACATCGTAG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48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42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87A2-DEF5-1636-90C9-86D641D0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computational workflow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C6111D1-0DBD-556A-CBC1-FE3D08DE92CC}"/>
              </a:ext>
            </a:extLst>
          </p:cNvPr>
          <p:cNvSpPr/>
          <p:nvPr/>
        </p:nvSpPr>
        <p:spPr>
          <a:xfrm>
            <a:off x="1824573" y="3552854"/>
            <a:ext cx="1050759" cy="64055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fastq.gz</a:t>
            </a:r>
            <a:endParaRPr lang="en-US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7E45A3-AD14-7764-C682-9326C0F543BB}"/>
              </a:ext>
            </a:extLst>
          </p:cNvPr>
          <p:cNvCxnSpPr>
            <a:cxnSpLocks/>
          </p:cNvCxnSpPr>
          <p:nvPr/>
        </p:nvCxnSpPr>
        <p:spPr>
          <a:xfrm>
            <a:off x="2875332" y="3873132"/>
            <a:ext cx="840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9C0709-F10B-8856-EDA5-AAD77BFAAA6B}"/>
              </a:ext>
            </a:extLst>
          </p:cNvPr>
          <p:cNvSpPr txBox="1"/>
          <p:nvPr/>
        </p:nvSpPr>
        <p:spPr>
          <a:xfrm>
            <a:off x="2475953" y="4393723"/>
            <a:ext cx="1639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demultiplex:</a:t>
            </a:r>
            <a:r>
              <a:rPr lang="en-US" dirty="0"/>
              <a:t> by target gene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9404B9-2034-835A-D14B-A75FA5109B75}"/>
              </a:ext>
            </a:extLst>
          </p:cNvPr>
          <p:cNvSpPr/>
          <p:nvPr/>
        </p:nvSpPr>
        <p:spPr>
          <a:xfrm>
            <a:off x="3716103" y="3612836"/>
            <a:ext cx="1050759" cy="52059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fastq.gz</a:t>
            </a:r>
            <a:endParaRPr lang="en-US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1DB62A-655F-1B63-FDF9-40EF42161002}"/>
              </a:ext>
            </a:extLst>
          </p:cNvPr>
          <p:cNvCxnSpPr>
            <a:cxnSpLocks/>
          </p:cNvCxnSpPr>
          <p:nvPr/>
        </p:nvCxnSpPr>
        <p:spPr>
          <a:xfrm>
            <a:off x="4766862" y="3873132"/>
            <a:ext cx="4830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521F8FF-1C55-7D8B-0710-EE3770F9ABC4}"/>
              </a:ext>
            </a:extLst>
          </p:cNvPr>
          <p:cNvSpPr/>
          <p:nvPr/>
        </p:nvSpPr>
        <p:spPr>
          <a:xfrm>
            <a:off x="5249935" y="3675459"/>
            <a:ext cx="1050759" cy="3953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fastq.gz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C883F6-15B6-0DC4-6C62-DEFCE2A29A6C}"/>
              </a:ext>
            </a:extLst>
          </p:cNvPr>
          <p:cNvSpPr txBox="1"/>
          <p:nvPr/>
        </p:nvSpPr>
        <p:spPr>
          <a:xfrm>
            <a:off x="3816927" y="2290466"/>
            <a:ext cx="22869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preprocess:</a:t>
            </a:r>
          </a:p>
          <a:p>
            <a:pPr marL="342900" indent="-342900">
              <a:buAutoNum type="arabicPeriod"/>
            </a:pPr>
            <a:r>
              <a:rPr lang="en-US" sz="1600" dirty="0"/>
              <a:t>filter abnormal reads</a:t>
            </a:r>
          </a:p>
          <a:p>
            <a:pPr marL="342900" indent="-342900">
              <a:buAutoNum type="arabicPeriod"/>
            </a:pPr>
            <a:r>
              <a:rPr lang="en-US" sz="1600" dirty="0"/>
              <a:t>reverse complement if needed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B7A3D06-1581-9CEA-C5B1-CA34423FEC60}"/>
              </a:ext>
            </a:extLst>
          </p:cNvPr>
          <p:cNvSpPr/>
          <p:nvPr/>
        </p:nvSpPr>
        <p:spPr>
          <a:xfrm>
            <a:off x="6783769" y="3675459"/>
            <a:ext cx="759180" cy="3953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bam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9B7E377-AA4D-90D1-6128-DB877D74C4AB}"/>
              </a:ext>
            </a:extLst>
          </p:cNvPr>
          <p:cNvCxnSpPr>
            <a:cxnSpLocks/>
          </p:cNvCxnSpPr>
          <p:nvPr/>
        </p:nvCxnSpPr>
        <p:spPr>
          <a:xfrm>
            <a:off x="6300694" y="3873131"/>
            <a:ext cx="4830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22336F-19DC-EBC6-C555-0F9A705FA5DA}"/>
              </a:ext>
            </a:extLst>
          </p:cNvPr>
          <p:cNvSpPr txBox="1"/>
          <p:nvPr/>
        </p:nvSpPr>
        <p:spPr>
          <a:xfrm>
            <a:off x="4287202" y="4351506"/>
            <a:ext cx="18624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process UMI:</a:t>
            </a:r>
          </a:p>
          <a:p>
            <a:pPr marL="342900" indent="-342900">
              <a:buAutoNum type="arabicPeriod"/>
            </a:pPr>
            <a:r>
              <a:rPr lang="en-US" sz="1600" dirty="0"/>
              <a:t>UMI extraction</a:t>
            </a:r>
          </a:p>
          <a:p>
            <a:pPr marL="342900" indent="-342900">
              <a:buAutoNum type="arabicPeriod"/>
            </a:pPr>
            <a:r>
              <a:rPr lang="en-US" sz="1600" dirty="0"/>
              <a:t>collapse reads by UMI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40B68A-C2F6-B1D8-3442-54A66502F4E1}"/>
              </a:ext>
            </a:extLst>
          </p:cNvPr>
          <p:cNvSpPr txBox="1"/>
          <p:nvPr/>
        </p:nvSpPr>
        <p:spPr>
          <a:xfrm>
            <a:off x="6300694" y="2698074"/>
            <a:ext cx="18624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map to ref:</a:t>
            </a:r>
          </a:p>
          <a:p>
            <a:pPr marL="342900" indent="-342900">
              <a:buAutoNum type="arabicPeriod"/>
            </a:pPr>
            <a:r>
              <a:rPr lang="en-US" sz="1600" dirty="0"/>
              <a:t>bwa</a:t>
            </a:r>
          </a:p>
          <a:p>
            <a:pPr marL="342900" indent="-342900">
              <a:buAutoNum type="arabicPeriod"/>
            </a:pPr>
            <a:r>
              <a:rPr lang="en-US" sz="1600" dirty="0"/>
              <a:t>blat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6D31A2E-884E-DA50-CAD7-407FCD088D81}"/>
              </a:ext>
            </a:extLst>
          </p:cNvPr>
          <p:cNvSpPr/>
          <p:nvPr/>
        </p:nvSpPr>
        <p:spPr>
          <a:xfrm>
            <a:off x="8844777" y="2733617"/>
            <a:ext cx="759180" cy="3953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csv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7DA574-3766-0E36-0D69-42A1C182C2C0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7542949" y="2931289"/>
            <a:ext cx="1301828" cy="941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7DE7511-FFE8-295D-B988-007A2319A67C}"/>
              </a:ext>
            </a:extLst>
          </p:cNvPr>
          <p:cNvSpPr/>
          <p:nvPr/>
        </p:nvSpPr>
        <p:spPr>
          <a:xfrm>
            <a:off x="8844777" y="4549518"/>
            <a:ext cx="759180" cy="3953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plot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7C69E0-4577-0BD2-6A4D-43DDCA279E52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7542949" y="3873131"/>
            <a:ext cx="1301828" cy="874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3ECD19E-8531-300E-4D1A-98A4C4ED1B3E}"/>
              </a:ext>
            </a:extLst>
          </p:cNvPr>
          <p:cNvSpPr txBox="1"/>
          <p:nvPr/>
        </p:nvSpPr>
        <p:spPr>
          <a:xfrm>
            <a:off x="7717833" y="2346934"/>
            <a:ext cx="186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parse insert stat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FA5652-BF5C-A73D-D24F-29189D5A137C}"/>
              </a:ext>
            </a:extLst>
          </p:cNvPr>
          <p:cNvSpPr/>
          <p:nvPr/>
        </p:nvSpPr>
        <p:spPr>
          <a:xfrm>
            <a:off x="3129916" y="2122825"/>
            <a:ext cx="7321774" cy="372388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E6E19-5051-0B21-968A-B56BF4116FF9}"/>
              </a:ext>
            </a:extLst>
          </p:cNvPr>
          <p:cNvSpPr txBox="1"/>
          <p:nvPr/>
        </p:nvSpPr>
        <p:spPr>
          <a:xfrm>
            <a:off x="9324845" y="5995837"/>
            <a:ext cx="1126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sikipipe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FFEB7F-2A11-F3EE-0008-A1F2B8BA5BD8}"/>
              </a:ext>
            </a:extLst>
          </p:cNvPr>
          <p:cNvSpPr txBox="1"/>
          <p:nvPr/>
        </p:nvSpPr>
        <p:spPr>
          <a:xfrm>
            <a:off x="6982366" y="4926134"/>
            <a:ext cx="29541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categorize and visualize (?): </a:t>
            </a:r>
          </a:p>
          <a:p>
            <a:pPr marL="342900" indent="-342900">
              <a:buAutoNum type="arabicPeriod"/>
            </a:pPr>
            <a:r>
              <a:rPr lang="en-US" sz="1600" dirty="0" err="1"/>
              <a:t>crispRVariants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knock-knock</a:t>
            </a:r>
          </a:p>
        </p:txBody>
      </p:sp>
    </p:spTree>
    <p:extLst>
      <p:ext uri="{BB962C8B-B14F-4D97-AF65-F5344CB8AC3E}">
        <p14:creationId xmlns:p14="http://schemas.microsoft.com/office/powerpoint/2010/main" val="3556230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CrispRVariants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C0FA-B91A-1A83-36E1-A74117462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413953"/>
            <a:ext cx="3550920" cy="2859088"/>
          </a:xfrm>
        </p:spPr>
        <p:txBody>
          <a:bodyPr>
            <a:normAutofit/>
          </a:bodyPr>
          <a:lstStyle/>
          <a:p>
            <a:r>
              <a:rPr lang="en-US" dirty="0"/>
              <a:t>R library: </a:t>
            </a:r>
            <a:r>
              <a:rPr lang="en-US" sz="1600" dirty="0">
                <a:hlinkClick r:id="rId2"/>
              </a:rPr>
              <a:t>https://github.com/markrobinsonuzh/CrispRVariants/tree/master</a:t>
            </a:r>
            <a:endParaRPr lang="en-US" sz="1600" dirty="0"/>
          </a:p>
          <a:p>
            <a:r>
              <a:rPr lang="en-US" dirty="0"/>
              <a:t>Take </a:t>
            </a:r>
            <a:r>
              <a:rPr lang="en-US" b="1" dirty="0"/>
              <a:t>bam</a:t>
            </a:r>
            <a:r>
              <a:rPr lang="en-US" dirty="0"/>
              <a:t> files as input</a:t>
            </a:r>
          </a:p>
          <a:p>
            <a:r>
              <a:rPr lang="en-US" dirty="0"/>
              <a:t>Count and visualize INDEL variants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48444EF-F132-6B4E-B500-7D7E60639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760" y="0"/>
            <a:ext cx="6797040" cy="679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436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plot: </a:t>
            </a:r>
            <a:r>
              <a:rPr lang="en-US" i="1" dirty="0"/>
              <a:t>hey2</a:t>
            </a:r>
            <a:r>
              <a:rPr lang="en-US" dirty="0"/>
              <a:t>, </a:t>
            </a:r>
            <a:r>
              <a:rPr lang="en-US" dirty="0" err="1"/>
              <a:t>uninjected</a:t>
            </a:r>
            <a:r>
              <a:rPr lang="en-US" dirty="0"/>
              <a:t> control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4704C-D873-ADA9-8478-5AF40BCCE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7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60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plot: </a:t>
            </a:r>
            <a:r>
              <a:rPr lang="en-US" i="1" dirty="0"/>
              <a:t>hey2</a:t>
            </a:r>
            <a:r>
              <a:rPr lang="en-US" dirty="0"/>
              <a:t>, Cas9 no donor control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49CFE-AE60-6219-0E6E-AA1E7F888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3330"/>
            <a:ext cx="12192000" cy="493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8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plot: </a:t>
            </a:r>
            <a:r>
              <a:rPr lang="en-US" i="1" dirty="0"/>
              <a:t>hey2</a:t>
            </a:r>
            <a:r>
              <a:rPr lang="en-US" dirty="0"/>
              <a:t>, Cas9 ISce1 donor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92701-E485-E32B-DB77-EB7481E3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12192000" cy="495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92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plot: </a:t>
            </a:r>
            <a:r>
              <a:rPr lang="en-US" i="1" dirty="0"/>
              <a:t>hey2</a:t>
            </a:r>
            <a:r>
              <a:rPr lang="en-US" dirty="0"/>
              <a:t>, Cas12 no donor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28EA6-2B62-91FA-7073-2F4BABD77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12192000" cy="50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14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knock-knock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C0FA-B91A-1A83-36E1-A74117462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413953"/>
            <a:ext cx="3550920" cy="3911896"/>
          </a:xfrm>
        </p:spPr>
        <p:txBody>
          <a:bodyPr>
            <a:normAutofit/>
          </a:bodyPr>
          <a:lstStyle/>
          <a:p>
            <a:r>
              <a:rPr lang="en-US" dirty="0"/>
              <a:t>Python library: </a:t>
            </a:r>
            <a:r>
              <a:rPr lang="en-US" sz="1600" dirty="0">
                <a:hlinkClick r:id="rId2"/>
              </a:rPr>
              <a:t>https://github.com/jeffhussmann/knock-knock</a:t>
            </a:r>
            <a:endParaRPr lang="en-US" sz="1600" dirty="0"/>
          </a:p>
          <a:p>
            <a:r>
              <a:rPr lang="en-US" dirty="0"/>
              <a:t>Take </a:t>
            </a:r>
            <a:r>
              <a:rPr lang="en-US" b="1" dirty="0" err="1"/>
              <a:t>fastq</a:t>
            </a:r>
            <a:r>
              <a:rPr lang="en-US" dirty="0"/>
              <a:t> files as input</a:t>
            </a:r>
          </a:p>
          <a:p>
            <a:r>
              <a:rPr lang="en-US" dirty="0"/>
              <a:t>Count and visualize INDEL variants by generating interactive table</a:t>
            </a:r>
          </a:p>
        </p:txBody>
      </p:sp>
    </p:spTree>
    <p:extLst>
      <p:ext uri="{BB962C8B-B14F-4D97-AF65-F5344CB8AC3E}">
        <p14:creationId xmlns:p14="http://schemas.microsoft.com/office/powerpoint/2010/main" val="1586800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DD83-36FE-7C6D-F81D-A3AF4627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C0FA-B91A-1A83-36E1-A74117462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Mapping tools failed to capture large INDELs</a:t>
            </a:r>
          </a:p>
          <a:p>
            <a:pPr lvl="1"/>
            <a:r>
              <a:rPr lang="en-US" dirty="0" err="1"/>
              <a:t>softclipped</a:t>
            </a:r>
            <a:r>
              <a:rPr lang="en-US" dirty="0"/>
              <a:t> or </a:t>
            </a:r>
            <a:r>
              <a:rPr lang="en-US" dirty="0" err="1"/>
              <a:t>hardclipped</a:t>
            </a:r>
            <a:r>
              <a:rPr lang="en-US" dirty="0"/>
              <a:t>: bwa can disable </a:t>
            </a:r>
            <a:r>
              <a:rPr lang="en-US" dirty="0" err="1"/>
              <a:t>softclipping</a:t>
            </a:r>
            <a:endParaRPr lang="en-US" dirty="0"/>
          </a:p>
          <a:p>
            <a:pPr lvl="1"/>
            <a:r>
              <a:rPr lang="en-US" dirty="0"/>
              <a:t>BLAT seems to work better, but not compatible with </a:t>
            </a:r>
            <a:r>
              <a:rPr lang="en-US" dirty="0" err="1"/>
              <a:t>crispRVariants</a:t>
            </a:r>
            <a:endParaRPr lang="en-US" dirty="0"/>
          </a:p>
          <a:p>
            <a:r>
              <a:rPr lang="en-US" dirty="0"/>
              <a:t>Sequencing qualities drop at repeat-rich regions:</a:t>
            </a:r>
          </a:p>
          <a:p>
            <a:pPr lvl="1"/>
            <a:r>
              <a:rPr lang="en-US" dirty="0"/>
              <a:t>causes artificial INDELs</a:t>
            </a:r>
          </a:p>
          <a:p>
            <a:endParaRPr lang="en-US" dirty="0"/>
          </a:p>
          <a:p>
            <a:r>
              <a:rPr lang="en-US" dirty="0"/>
              <a:t>What are ISce1, </a:t>
            </a:r>
            <a:r>
              <a:rPr lang="en-US" dirty="0" err="1"/>
              <a:t>unigRNA</a:t>
            </a:r>
            <a:r>
              <a:rPr lang="en-US" dirty="0"/>
              <a:t>, and mod donors?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68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729</Words>
  <Application>Microsoft Macintosh PowerPoint</Application>
  <PresentationFormat>Widescreen</PresentationFormat>
  <Paragraphs>143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A brief introduction to the  SIKI-project</vt:lpstr>
      <vt:lpstr>A collaboration with Lawson Lab</vt:lpstr>
      <vt:lpstr>Gene editing with CRISPR system</vt:lpstr>
      <vt:lpstr>Knock-in with Homology-Directed Repair (HDR)</vt:lpstr>
      <vt:lpstr>Cas9 vs Cas12</vt:lpstr>
      <vt:lpstr>Cas9 vs Cas12, Cont’d</vt:lpstr>
      <vt:lpstr>Experimental setup</vt:lpstr>
      <vt:lpstr>Sequencing library</vt:lpstr>
      <vt:lpstr>Proposed computational workflow</vt:lpstr>
      <vt:lpstr>CrispRVariants</vt:lpstr>
      <vt:lpstr>Example plot: hey2, uninjected control</vt:lpstr>
      <vt:lpstr>Example plot: hey2, Cas9 no donor control</vt:lpstr>
      <vt:lpstr>Example plot: hey2, Cas9 ISce1 donor</vt:lpstr>
      <vt:lpstr>Example plot: hey2, Cas12 no donor</vt:lpstr>
      <vt:lpstr>knock-knock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 siki-project</dc:title>
  <dc:creator>Hu, Kai</dc:creator>
  <cp:lastModifiedBy>Hu, Kai</cp:lastModifiedBy>
  <cp:revision>65</cp:revision>
  <dcterms:created xsi:type="dcterms:W3CDTF">2023-10-23T13:31:16Z</dcterms:created>
  <dcterms:modified xsi:type="dcterms:W3CDTF">2023-10-25T01:46:50Z</dcterms:modified>
</cp:coreProperties>
</file>