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57" r:id="rId4"/>
    <p:sldId id="275" r:id="rId5"/>
    <p:sldId id="273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C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/>
    <p:restoredTop sz="88290"/>
  </p:normalViewPr>
  <p:slideViewPr>
    <p:cSldViewPr snapToGrid="0">
      <p:cViewPr>
        <p:scale>
          <a:sx n="93" d="100"/>
          <a:sy n="93" d="100"/>
        </p:scale>
        <p:origin x="4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717F4-5D08-5547-B31A-F4D015D18FD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02CDD-3B5F-AC46-8D51-ABC59D515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2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1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E0D8-D323-7C77-884E-64D90D4A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04FBF-FB15-FBDE-4357-A4BACE4F1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B12FB-E593-356F-8B65-9E6D9FAF7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D11F5-9DB7-AA59-B1EA-64D56617E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5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67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53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34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06BA-5D0E-4887-CC59-F0D82A564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521F1-0F85-A600-5237-66AB37776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A6131-CBBA-F3F6-2DE2-66EE090C8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FAEDD-FCBC-D89F-1CE5-D746888A1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56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B4572-EDC5-5E8F-79E6-4F1A31C1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DA4BE-775F-FCD4-F3F7-A5D847655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584CF-F50E-1930-EB68-4A58DF55E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9D802-2438-35BA-B661-FCA160C51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92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F686-277E-AE57-1194-942702FD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E21EC-9227-335F-2F9C-7EC3999DA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79F2C-91B5-175E-6BAE-19751B911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BF3C5-26CC-95C3-947D-D6E67B32C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80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87371-F097-D0CD-C04B-4369B57B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D71DF-DBBA-98C8-C4A0-1071CAC3B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AA929-E35D-5878-6B1A-7553DCF89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706D0-0453-712C-B02C-FA0F102E3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11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63B3-2E2E-BC27-9903-AC06257C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893A4-1A8B-8EDB-8777-7B6CB185F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3F70F-DFEF-3197-4FE7-74A82C09A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98EC5-F2DA-CE31-64FE-41052F00A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5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5648-28D5-2735-F7C7-5E6323AA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C4C2D-E775-6D45-5E72-4FDFAFFF2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ACCE5-0FAA-45C7-C655-61836EF2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E2EDA-8D1A-8C13-E926-2C7E47547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12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7172-1F2F-73FB-7E63-2BD13EB2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7B19D-A6C7-6627-C089-5E1608290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88408-313D-DFAA-DE16-78157585E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E990D-B0AB-4EA4-5B8A-0F6334D0D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96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4046-E64B-05F5-1DC3-0F0A22D2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46E88-3E16-466D-BBA0-DD32D1417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5DA4A-53F2-1301-8429-F1421002D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9A7F7-C9B8-30CA-450A-FE2974FAD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2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C356-8220-F63B-B678-147FA8202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1B03D-EB6C-9349-C786-8D9BFEDD3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10009-C1D2-AEAF-01B5-4F22B979A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265F-FBE0-2B9F-81F0-7EB4BC98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B7740-499D-F7F9-3633-CF2FCD69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9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CDB0-9835-710B-AC85-E2423FBC6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719F-E636-731B-CB3D-451CE3DA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9626-9AF2-310F-9B87-42FA7F360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68EC3-BA8D-D3A8-C5F0-341DBDE2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13FF1-9B9A-4544-A51A-B321F3F7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0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6C56-07B1-6C7A-CEC5-B92D46F0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06D2F-1480-2563-FD90-12A2387C7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8508-C205-993C-E3B9-AC408B22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EA873-A245-B7EE-34A4-ED6F2CEB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4ADE-162B-B6B0-9789-90C81BA9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7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3311-5928-1BDA-7243-844421AD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A13DB-8367-36C3-99E4-1CEE2FED9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4EE74-2E28-1D58-C7E1-1552867E0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17E76-3A0A-9E14-2564-8C9DE66F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C6CA6-4FF2-1CC3-0101-42F81F46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196E0-8B50-712E-9BAC-0A7372EB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5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6E982-FC04-D137-C5A1-12E266E1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27456-0244-8DD1-5A16-46EC479C1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6083E-D31C-321E-DF08-0DC5A22C3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0E7DBD-CEED-E9CD-BAC3-090094C5A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C1E73-28FD-7126-DABA-B79571424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DABC7-4D48-DE24-10A9-62A2ECB3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87AF3-4A0C-6C16-4121-6E9632F8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2CF1B-1F2B-09B6-FA8A-C0A569B2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9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9790-CE08-29B5-0D3D-F3B7ECB5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7C188-B87F-B301-A0CC-1EF917A4D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BEEDA-86A3-F741-9C55-BB2F0A3A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7EC76-135A-A554-2A0F-36A06E59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7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26D06B-6045-1422-AA51-D680D8B8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B83B8-D28C-90EC-B70C-C057F002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87CB0-81B7-D4C4-EAB7-2E55017A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6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5F50-8A90-B319-F047-1181E9A3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977D-2104-7E2D-6789-181071495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7A5DB-FF0E-8829-3175-4A85482DA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3DF2A-DF42-34D4-0766-9EA4E81B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4E5ED-CFAF-1C86-FD52-626E82A3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DBE59-3EB2-1CD7-1BDD-6DA285B2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7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906A-DF66-8EC2-8A53-61A3B2E5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A20AE-AD20-1C31-D575-933BE8F94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BB2D1-9882-F0F7-CA90-66080438D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7EEAE-87E8-A233-1C5C-9D861E80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8F876-5420-D485-A9D5-127667A2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163B4-BFA9-63C1-6B49-3CFBC696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4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151F-59EC-1DCC-3F4F-C68B1F1E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C8D20-7281-6404-6F1E-0ADA816DB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79F8A-EF70-9D75-3121-AD9C45FF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2245-F8F7-6ACE-2326-30D2921F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4AC37-3B0B-C208-D2B3-C3DD9868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9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FA26E-1043-C873-C400-617ABCC54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640A1-EFE2-40F7-65DF-F96EF20DB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1375C-3B81-6D23-922A-B4C9F5A5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6D90C-D39B-FE22-393C-8410B23B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CC9BE-8CD3-6E69-B091-CBAA26F16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4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84C75-7563-0B3D-7E8D-BA21B4A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71633-295A-241E-0A1B-06A84023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F104E-2CED-69F3-0A77-B00F3EDC8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733A2-939C-8441-ACFE-4D91B1A08EBC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038AA-9E83-3238-EB6E-4EDCF3770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A08F9-4497-44B0-1874-B42880911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ffhussmann/knock-knock/blob/master/docs/visualization.m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ffhussmann/knock-knock/issues/1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uctor.org/packages/release/bioc/vignettes/CrispRVariants/inst/doc/user_guid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B7A2-ADBE-12E8-7B6C-4E721BF6F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6717"/>
            <a:ext cx="9144000" cy="2387600"/>
          </a:xfrm>
        </p:spPr>
        <p:txBody>
          <a:bodyPr/>
          <a:lstStyle/>
          <a:p>
            <a:r>
              <a:rPr lang="en-US" dirty="0"/>
              <a:t>Quantifying CRISPR Knock-in Outcome Spectrum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98EDB-8989-B321-4F8A-33FE7B784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72050"/>
            <a:ext cx="9144000" cy="1071562"/>
          </a:xfrm>
        </p:spPr>
        <p:txBody>
          <a:bodyPr>
            <a:normAutofit/>
          </a:bodyPr>
          <a:lstStyle/>
          <a:p>
            <a:r>
              <a:rPr lang="en-US" dirty="0"/>
              <a:t>Kai Hu</a:t>
            </a:r>
          </a:p>
          <a:p>
            <a:r>
              <a:rPr lang="en-US" dirty="0"/>
              <a:t>10/2024</a:t>
            </a:r>
          </a:p>
        </p:txBody>
      </p:sp>
    </p:spTree>
    <p:extLst>
      <p:ext uri="{BB962C8B-B14F-4D97-AF65-F5344CB8AC3E}">
        <p14:creationId xmlns:p14="http://schemas.microsoft.com/office/powerpoint/2010/main" val="82105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D968-6E91-F82D-9A50-591C9ACA7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64EC-8429-2841-5B2E-7EE261AD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collaboration with Lawson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9466-F855-4A15-9DAA-EEDA89C59CE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Goal:</a:t>
            </a:r>
          </a:p>
          <a:p>
            <a:pPr lvl="1"/>
            <a:r>
              <a:rPr lang="en-US" dirty="0"/>
              <a:t>Quantify the Short Insert Knock-In experiment outcome</a:t>
            </a:r>
          </a:p>
          <a:p>
            <a:endParaRPr lang="en-US" dirty="0"/>
          </a:p>
          <a:p>
            <a:r>
              <a:rPr lang="en-US" dirty="0"/>
              <a:t>Sequencing platform: PacBio</a:t>
            </a:r>
          </a:p>
          <a:p>
            <a:endParaRPr lang="en-US" dirty="0"/>
          </a:p>
          <a:p>
            <a:r>
              <a:rPr lang="en-US" dirty="0"/>
              <a:t>Available tools:</a:t>
            </a:r>
          </a:p>
          <a:p>
            <a:pPr lvl="1"/>
            <a:r>
              <a:rPr lang="en-US" dirty="0"/>
              <a:t>knock-knock</a:t>
            </a:r>
          </a:p>
          <a:p>
            <a:pPr lvl="1"/>
            <a:r>
              <a:rPr lang="en-US" dirty="0" err="1"/>
              <a:t>CrispRVariants</a:t>
            </a:r>
            <a:endParaRPr lang="en-US" dirty="0"/>
          </a:p>
          <a:p>
            <a:pPr lvl="1"/>
            <a:r>
              <a:rPr lang="en-US" dirty="0"/>
              <a:t>In-house scripts</a:t>
            </a:r>
          </a:p>
        </p:txBody>
      </p:sp>
    </p:spTree>
    <p:extLst>
      <p:ext uri="{BB962C8B-B14F-4D97-AF65-F5344CB8AC3E}">
        <p14:creationId xmlns:p14="http://schemas.microsoft.com/office/powerpoint/2010/main" val="74988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5C2B-D560-390B-9D42-88B3E651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Quantifying editing outcome: practical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0D22C-CEEB-A0DA-97D8-7B88D73AF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4773"/>
            <a:ext cx="10515600" cy="4112189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How to capture mutations in each sequence?</a:t>
            </a:r>
          </a:p>
          <a:p>
            <a:pPr lvl="1"/>
            <a:r>
              <a:rPr lang="en-US" dirty="0"/>
              <a:t>single mutation, INDEL, inversion, etc.</a:t>
            </a:r>
          </a:p>
          <a:p>
            <a:endParaRPr lang="en-US" dirty="0"/>
          </a:p>
          <a:p>
            <a:r>
              <a:rPr lang="en-US" dirty="0"/>
              <a:t>How to define “editing outcome categories”?</a:t>
            </a:r>
          </a:p>
          <a:p>
            <a:pPr lvl="1"/>
            <a:r>
              <a:rPr lang="en-US" dirty="0"/>
              <a:t>need input from lab scientists</a:t>
            </a:r>
          </a:p>
          <a:p>
            <a:endParaRPr lang="en-US" dirty="0"/>
          </a:p>
          <a:p>
            <a:r>
              <a:rPr lang="en-US" dirty="0"/>
              <a:t>How to deal with natural mutations?</a:t>
            </a:r>
          </a:p>
          <a:p>
            <a:pPr lvl="1"/>
            <a:r>
              <a:rPr lang="en-US" dirty="0"/>
              <a:t>the mutations that also occur in control samples</a:t>
            </a:r>
          </a:p>
        </p:txBody>
      </p:sp>
    </p:spTree>
    <p:extLst>
      <p:ext uri="{BB962C8B-B14F-4D97-AF65-F5344CB8AC3E}">
        <p14:creationId xmlns:p14="http://schemas.microsoft.com/office/powerpoint/2010/main" val="429069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3BB38-F2EE-0568-C4FD-69DF179B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C7CD-CBC9-A3BC-C61B-FC60DD42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knock-knock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525F-D384-837A-CE62-75AD935ED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9" y="1893194"/>
            <a:ext cx="11143957" cy="44326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Take fastq file, ref genome, primer seq, donor seq, etc. as input</a:t>
            </a:r>
          </a:p>
          <a:p>
            <a:r>
              <a:rPr lang="en-US" dirty="0"/>
              <a:t>First, for each read, produce a set of </a:t>
            </a:r>
            <a:r>
              <a:rPr lang="en-US" dirty="0">
                <a:highlight>
                  <a:srgbClr val="FFFF00"/>
                </a:highlight>
              </a:rPr>
              <a:t>local alignments </a:t>
            </a:r>
            <a:r>
              <a:rPr lang="en-US" dirty="0"/>
              <a:t>between portions of the read and all relevant sequences present in the edited cell. </a:t>
            </a:r>
          </a:p>
          <a:p>
            <a:r>
              <a:rPr lang="en-US" dirty="0"/>
              <a:t>Then, identify a </a:t>
            </a:r>
            <a:r>
              <a:rPr lang="en-US" dirty="0">
                <a:highlight>
                  <a:srgbClr val="FFFF00"/>
                </a:highlight>
              </a:rPr>
              <a:t>parsimonious subset</a:t>
            </a:r>
            <a:r>
              <a:rPr lang="en-US" dirty="0"/>
              <a:t> of local alignments that cover the whole read.</a:t>
            </a:r>
          </a:p>
          <a:p>
            <a:r>
              <a:rPr lang="en-US" dirty="0"/>
              <a:t>Last, categorize by </a:t>
            </a:r>
            <a:r>
              <a:rPr lang="en-US" dirty="0">
                <a:highlight>
                  <a:srgbClr val="FFFF00"/>
                </a:highlight>
              </a:rPr>
              <a:t>analyzing the architecture </a:t>
            </a:r>
            <a:r>
              <a:rPr lang="en-US" dirty="0"/>
              <a:t>of the covering alignments.</a:t>
            </a:r>
          </a:p>
          <a:p>
            <a:pPr lvl="1"/>
            <a:r>
              <a:rPr lang="en-US" dirty="0">
                <a:hlinkClick r:id="rId2"/>
              </a:rPr>
              <a:t>https://github.com/jeffhussmann/knock-knock/blob/master/docs/visualization.md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knock-knock also supports </a:t>
            </a:r>
            <a:r>
              <a:rPr lang="en-US" b="1" dirty="0"/>
              <a:t>interactive</a:t>
            </a:r>
            <a:r>
              <a:rPr lang="en-US" dirty="0"/>
              <a:t> exploring of the categorization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9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0BC4A-8C56-BEF1-25E9-1DD6B43E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1DFF-5BF6-C49E-8BCA-2A06E84F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when running knock-knock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A8A0-8A55-8185-FD7C-0DDA2DC9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9" y="1893194"/>
            <a:ext cx="10515599" cy="44326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Unpublished Python tool, documentation is not very clear</a:t>
            </a:r>
          </a:p>
          <a:p>
            <a:r>
              <a:rPr lang="en-US" dirty="0"/>
              <a:t>Buggy in many places, NOT being actively maintained</a:t>
            </a:r>
          </a:p>
          <a:p>
            <a:pPr lvl="1"/>
            <a:r>
              <a:rPr lang="en-US" dirty="0">
                <a:hlinkClick r:id="rId3"/>
              </a:rPr>
              <a:t>https://github.com/jeffhussmann/knock-knock/issues/14</a:t>
            </a:r>
            <a:endParaRPr lang="en-US" dirty="0"/>
          </a:p>
          <a:p>
            <a:r>
              <a:rPr lang="en-US" dirty="0"/>
              <a:t>Many parameters hard-coded in the scripts:</a:t>
            </a:r>
          </a:p>
          <a:p>
            <a:pPr lvl="1"/>
            <a:r>
              <a:rPr lang="en-US" dirty="0"/>
              <a:t>minimap2, STAR, </a:t>
            </a:r>
            <a:r>
              <a:rPr lang="en-US" dirty="0" err="1"/>
              <a:t>blastn</a:t>
            </a:r>
            <a:endParaRPr lang="en-US" dirty="0"/>
          </a:p>
          <a:p>
            <a:pPr lvl="1"/>
            <a:r>
              <a:rPr lang="en-US" dirty="0"/>
              <a:t>not sure how those parameters would affect the final categorization</a:t>
            </a:r>
          </a:p>
          <a:p>
            <a:pPr lvl="1"/>
            <a:r>
              <a:rPr lang="en-US" dirty="0"/>
              <a:t>small INDELs (&lt; 5 bps) will not be reflected in the plot</a:t>
            </a:r>
          </a:p>
          <a:p>
            <a:r>
              <a:rPr lang="en-US" dirty="0"/>
              <a:t>Editing outcome categories seemingly arbitrarily defined and lack of definition</a:t>
            </a:r>
          </a:p>
          <a:p>
            <a:pPr lvl="1"/>
            <a:r>
              <a:rPr lang="en-US" dirty="0"/>
              <a:t>simple indel, blunt </a:t>
            </a:r>
            <a:r>
              <a:rPr lang="en-US" dirty="0" err="1"/>
              <a:t>misintegration</a:t>
            </a:r>
            <a:r>
              <a:rPr lang="en-US" dirty="0"/>
              <a:t>, </a:t>
            </a:r>
            <a:r>
              <a:rPr lang="en-US" i="1" dirty="0" err="1"/>
              <a:t>etc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finally made knock-knock run with our sequencing data, however, upon inspection, Nathan found many mis-categorizations</a:t>
            </a:r>
          </a:p>
        </p:txBody>
      </p:sp>
    </p:spTree>
    <p:extLst>
      <p:ext uri="{BB962C8B-B14F-4D97-AF65-F5344CB8AC3E}">
        <p14:creationId xmlns:p14="http://schemas.microsoft.com/office/powerpoint/2010/main" val="285729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5D2A-9A62-9F75-C0AA-EABF82C2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840D-C3C8-3922-DFD5-F806B1C6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</a:t>
            </a:r>
            <a:r>
              <a:rPr lang="en-US" dirty="0" err="1"/>
              <a:t>CrisprVRriants</a:t>
            </a:r>
            <a:r>
              <a:rPr lang="en-US" dirty="0"/>
              <a:t>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3FC2E-D5EA-B4E8-9521-A2800C307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9" y="1893194"/>
            <a:ext cx="11143957" cy="4432655"/>
          </a:xfrm>
        </p:spPr>
        <p:txBody>
          <a:bodyPr>
            <a:normAutofit/>
          </a:bodyPr>
          <a:lstStyle/>
          <a:p>
            <a:r>
              <a:rPr lang="en-US" dirty="0"/>
              <a:t>First, obtain a </a:t>
            </a:r>
            <a:r>
              <a:rPr lang="en-US" dirty="0">
                <a:highlight>
                  <a:srgbClr val="FFFF00"/>
                </a:highlight>
              </a:rPr>
              <a:t>BAM</a:t>
            </a:r>
            <a:r>
              <a:rPr lang="en-US" dirty="0"/>
              <a:t> file by mapping fastq to ref: can be done outside of R</a:t>
            </a:r>
          </a:p>
          <a:p>
            <a:r>
              <a:rPr lang="en-US" dirty="0"/>
              <a:t>Then, locate and prepare a </a:t>
            </a:r>
            <a:r>
              <a:rPr lang="en-US" dirty="0">
                <a:highlight>
                  <a:srgbClr val="FFFF00"/>
                </a:highlight>
              </a:rPr>
              <a:t>target region </a:t>
            </a:r>
            <a:r>
              <a:rPr lang="en-US" dirty="0"/>
              <a:t>in reference</a:t>
            </a:r>
          </a:p>
          <a:p>
            <a:pPr lvl="1"/>
            <a:r>
              <a:rPr lang="en-US" dirty="0"/>
              <a:t>gRNA + flanking bases</a:t>
            </a:r>
          </a:p>
          <a:p>
            <a:r>
              <a:rPr lang="en-US" dirty="0"/>
              <a:t>Next, prepare a </a:t>
            </a:r>
            <a:r>
              <a:rPr lang="en-US" dirty="0" err="1">
                <a:highlight>
                  <a:srgbClr val="FFFF00"/>
                </a:highlight>
              </a:rPr>
              <a:t>crispr_set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object that contains alignment info, target region, and variant info</a:t>
            </a:r>
          </a:p>
          <a:p>
            <a:r>
              <a:rPr lang="en-US" dirty="0"/>
              <a:t>Finally, summarize </a:t>
            </a:r>
            <a:r>
              <a:rPr lang="en-US" dirty="0">
                <a:highlight>
                  <a:srgbClr val="FFFF00"/>
                </a:highlight>
              </a:rPr>
              <a:t>variant counts</a:t>
            </a:r>
            <a:r>
              <a:rPr lang="en-US" dirty="0"/>
              <a:t> and visualize:</a:t>
            </a:r>
          </a:p>
          <a:p>
            <a:pPr lvl="1"/>
            <a:r>
              <a:rPr lang="en-US" dirty="0">
                <a:hlinkClick r:id="rId3"/>
              </a:rPr>
              <a:t>https://bioconductor.org/packages/release/bioc/vignettes/CrispRVariants/inst/doc/user_guide.html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10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E183-73F3-EDD2-4D5A-1A199B8B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7705-BEA5-83F0-051A-83E1182F3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</a:t>
            </a:r>
            <a:r>
              <a:rPr lang="en-US" dirty="0" err="1"/>
              <a:t>CrisprVRriants</a:t>
            </a:r>
            <a:r>
              <a:rPr lang="en-US" dirty="0"/>
              <a:t> work, Cont’d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3AE27-28E7-C1BD-1DB5-D09471E0D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27" y="1690688"/>
            <a:ext cx="5886450" cy="4674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247648-1748-D259-F956-6590FC1C3569}"/>
              </a:ext>
            </a:extLst>
          </p:cNvPr>
          <p:cNvSpPr txBox="1"/>
          <p:nvPr/>
        </p:nvSpPr>
        <p:spPr>
          <a:xfrm>
            <a:off x="0" y="6488668"/>
            <a:ext cx="9966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bioconductor.org</a:t>
            </a:r>
            <a:r>
              <a:rPr lang="en-US" dirty="0"/>
              <a:t>/packages/release/</a:t>
            </a:r>
            <a:r>
              <a:rPr lang="en-US" dirty="0" err="1"/>
              <a:t>bioc</a:t>
            </a:r>
            <a:r>
              <a:rPr lang="en-US" dirty="0"/>
              <a:t>/vignettes/</a:t>
            </a:r>
            <a:r>
              <a:rPr lang="en-US" dirty="0" err="1"/>
              <a:t>CrispRVariants</a:t>
            </a:r>
            <a:r>
              <a:rPr lang="en-US" dirty="0"/>
              <a:t>/</a:t>
            </a:r>
            <a:r>
              <a:rPr lang="en-US" dirty="0" err="1"/>
              <a:t>inst</a:t>
            </a:r>
            <a:r>
              <a:rPr lang="en-US" dirty="0"/>
              <a:t>/doc/</a:t>
            </a:r>
            <a:r>
              <a:rPr lang="en-US" dirty="0" err="1"/>
              <a:t>user_guide.html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91B0B-7E43-2A1A-FBCE-19D620EE161F}"/>
              </a:ext>
            </a:extLst>
          </p:cNvPr>
          <p:cNvSpPr txBox="1"/>
          <p:nvPr/>
        </p:nvSpPr>
        <p:spPr>
          <a:xfrm>
            <a:off x="7320491" y="2893513"/>
            <a:ext cx="37422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dirty="0" err="1">
                <a:highlight>
                  <a:srgbClr val="FFFF00"/>
                </a:highlight>
              </a:rPr>
              <a:t>crispr_set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/>
              <a:t>object basically consists of the plotting information by parsing the BAM file.</a:t>
            </a:r>
          </a:p>
        </p:txBody>
      </p:sp>
    </p:spTree>
    <p:extLst>
      <p:ext uri="{BB962C8B-B14F-4D97-AF65-F5344CB8AC3E}">
        <p14:creationId xmlns:p14="http://schemas.microsoft.com/office/powerpoint/2010/main" val="132054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D07E-8475-6751-AC07-00C00601C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3D05-4243-30D0-5F62-8DBAE6F9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when running </a:t>
            </a:r>
            <a:r>
              <a:rPr lang="en-US" dirty="0" err="1"/>
              <a:t>CrispRVariants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82807-120F-8635-6E09-477D44B13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9" y="1893194"/>
            <a:ext cx="10515599" cy="44326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variants (species and location) are determined by the mapping (BAM file) results</a:t>
            </a:r>
          </a:p>
          <a:p>
            <a:pPr lvl="1"/>
            <a:r>
              <a:rPr lang="en-US" dirty="0"/>
              <a:t>Some variants may not be captured by BAM (e.g., soft-clipped large INDELs, inversions, etc.)</a:t>
            </a:r>
          </a:p>
          <a:p>
            <a:r>
              <a:rPr lang="en-US" dirty="0"/>
              <a:t>With </a:t>
            </a:r>
            <a:r>
              <a:rPr lang="en-US" dirty="0" err="1"/>
              <a:t>CrispRVariants</a:t>
            </a:r>
            <a:r>
              <a:rPr lang="en-US" dirty="0"/>
              <a:t>, it is best to focus on a </a:t>
            </a:r>
            <a:r>
              <a:rPr lang="en-US" dirty="0">
                <a:highlight>
                  <a:srgbClr val="FFFF00"/>
                </a:highlight>
              </a:rPr>
              <a:t>small target region</a:t>
            </a:r>
          </a:p>
          <a:p>
            <a:pPr lvl="1"/>
            <a:r>
              <a:rPr lang="en-US" dirty="0"/>
              <a:t>If target region is too large, the plot will be too large to read</a:t>
            </a:r>
          </a:p>
          <a:p>
            <a:pPr lvl="1"/>
            <a:r>
              <a:rPr lang="en-US" dirty="0"/>
              <a:t>Therefore, distant variants will not be captured</a:t>
            </a:r>
          </a:p>
          <a:p>
            <a:r>
              <a:rPr lang="en-US" dirty="0"/>
              <a:t>Can NOT mask natural SNP variants:</a:t>
            </a:r>
          </a:p>
          <a:p>
            <a:pPr lvl="1"/>
            <a:r>
              <a:rPr lang="en-US" dirty="0"/>
              <a:t>Therefore, many variant reads will be “detected” even in control samples</a:t>
            </a:r>
          </a:p>
          <a:p>
            <a:pPr lvl="1"/>
            <a:r>
              <a:rPr lang="en-US" dirty="0"/>
              <a:t>In this project, we are particularly interested in INDELs instead of natural SNPs</a:t>
            </a:r>
          </a:p>
          <a:p>
            <a:endParaRPr lang="en-US" dirty="0"/>
          </a:p>
          <a:p>
            <a:r>
              <a:rPr lang="en-US" dirty="0" err="1"/>
              <a:t>CrispRVariants</a:t>
            </a:r>
            <a:r>
              <a:rPr lang="en-US" dirty="0"/>
              <a:t> plots are still very informative, especially when you know what you are looking for</a:t>
            </a:r>
          </a:p>
        </p:txBody>
      </p:sp>
    </p:spTree>
    <p:extLst>
      <p:ext uri="{BB962C8B-B14F-4D97-AF65-F5344CB8AC3E}">
        <p14:creationId xmlns:p14="http://schemas.microsoft.com/office/powerpoint/2010/main" val="911066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DEA2-DFD3-21CF-385B-831CBA88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4520-6039-B622-3833-6606C000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of in-house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09A73-361F-8C2D-AF16-C4AC71A33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9" y="1893194"/>
            <a:ext cx="10515599" cy="44326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Determine </a:t>
            </a:r>
            <a:r>
              <a:rPr lang="en-US" dirty="0">
                <a:highlight>
                  <a:srgbClr val="FFFF00"/>
                </a:highlight>
              </a:rPr>
              <a:t>tag(insert)-containing </a:t>
            </a:r>
            <a:r>
              <a:rPr lang="en-US" dirty="0"/>
              <a:t>read ratio</a:t>
            </a:r>
          </a:p>
          <a:p>
            <a:pPr lvl="1"/>
            <a:r>
              <a:rPr lang="en-US" dirty="0"/>
              <a:t>count of reads with single tag</a:t>
            </a:r>
          </a:p>
          <a:p>
            <a:pPr lvl="1"/>
            <a:r>
              <a:rPr lang="en-US" dirty="0"/>
              <a:t>count of reads with multiple tags</a:t>
            </a:r>
          </a:p>
          <a:p>
            <a:r>
              <a:rPr lang="en-US" dirty="0"/>
              <a:t>For tag-containing reads:</a:t>
            </a:r>
          </a:p>
          <a:p>
            <a:pPr lvl="1"/>
            <a:r>
              <a:rPr lang="en-US" dirty="0"/>
              <a:t>determine the percentage of </a:t>
            </a:r>
            <a:r>
              <a:rPr lang="en-US" dirty="0">
                <a:highlight>
                  <a:srgbClr val="FFFF00"/>
                </a:highlight>
              </a:rPr>
              <a:t>precise-insert-containing</a:t>
            </a:r>
            <a:r>
              <a:rPr lang="en-US" dirty="0"/>
              <a:t> read ratio</a:t>
            </a:r>
          </a:p>
          <a:p>
            <a:pPr lvl="1"/>
            <a:r>
              <a:rPr lang="en-US" dirty="0"/>
              <a:t>determine if </a:t>
            </a:r>
            <a:r>
              <a:rPr lang="en-US" dirty="0">
                <a:highlight>
                  <a:srgbClr val="FFFF00"/>
                </a:highlight>
              </a:rPr>
              <a:t>INDELs</a:t>
            </a:r>
            <a:r>
              <a:rPr lang="en-US" dirty="0"/>
              <a:t> are present and their locations</a:t>
            </a:r>
          </a:p>
          <a:p>
            <a:pPr lvl="1"/>
            <a:r>
              <a:rPr lang="en-US" dirty="0"/>
              <a:t>for precise-insert reads:</a:t>
            </a:r>
          </a:p>
          <a:p>
            <a:pPr lvl="2"/>
            <a:r>
              <a:rPr lang="en-US" dirty="0"/>
              <a:t>further divide them into sub-groups according to a </a:t>
            </a:r>
            <a:r>
              <a:rPr lang="en-US" dirty="0">
                <a:highlight>
                  <a:srgbClr val="FFFF00"/>
                </a:highlight>
              </a:rPr>
              <a:t>SNP</a:t>
            </a:r>
            <a:r>
              <a:rPr lang="en-US" dirty="0"/>
              <a:t> site</a:t>
            </a:r>
          </a:p>
          <a:p>
            <a:pPr lvl="2"/>
            <a:endParaRPr lang="en-US" dirty="0"/>
          </a:p>
          <a:p>
            <a:r>
              <a:rPr lang="en-US" dirty="0"/>
              <a:t>For non-tag-containing reads:</a:t>
            </a:r>
          </a:p>
          <a:p>
            <a:pPr lvl="1"/>
            <a:r>
              <a:rPr lang="en-US" dirty="0"/>
              <a:t>determine if INDELs are present and their locations</a:t>
            </a:r>
          </a:p>
          <a:p>
            <a:pPr lvl="1"/>
            <a:r>
              <a:rPr lang="en-US" dirty="0"/>
              <a:t>(optional) filter out natural INDELs that appear in control samples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82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99A6-A962-7605-29F1-E24B52EE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67CA-42DE-1E54-EA12-14399ABD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overview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9494D91-3994-34DD-F3AD-85DE0EA1AF65}"/>
              </a:ext>
            </a:extLst>
          </p:cNvPr>
          <p:cNvSpPr/>
          <p:nvPr/>
        </p:nvSpPr>
        <p:spPr>
          <a:xfrm>
            <a:off x="3800633" y="2547658"/>
            <a:ext cx="798093" cy="45672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fastq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031824-8CC6-916E-9739-F8B2F97461A2}"/>
              </a:ext>
            </a:extLst>
          </p:cNvPr>
          <p:cNvSpPr/>
          <p:nvPr/>
        </p:nvSpPr>
        <p:spPr>
          <a:xfrm>
            <a:off x="5062176" y="2437837"/>
            <a:ext cx="1050759" cy="67636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Step1</a:t>
            </a:r>
            <a:r>
              <a:rPr lang="en-US" sz="1000" b="1" dirty="0"/>
              <a:t>: </a:t>
            </a:r>
            <a:r>
              <a:rPr lang="en-US" sz="1200" dirty="0"/>
              <a:t>demultiplex (target gene)</a:t>
            </a:r>
            <a:endParaRPr lang="en-US" sz="1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1A6F97-308F-6924-9B7D-99BE2BB9EEC7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4598726" y="2776019"/>
            <a:ext cx="463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FEBA9B-7277-373B-F2FE-B8713A273EF8}"/>
              </a:ext>
            </a:extLst>
          </p:cNvPr>
          <p:cNvSpPr/>
          <p:nvPr/>
        </p:nvSpPr>
        <p:spPr>
          <a:xfrm>
            <a:off x="6576385" y="2437837"/>
            <a:ext cx="1050759" cy="67636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Step2</a:t>
            </a:r>
            <a:r>
              <a:rPr lang="en-US" sz="1000" b="1" dirty="0"/>
              <a:t>: </a:t>
            </a:r>
            <a:r>
              <a:rPr lang="en-US" sz="1200" dirty="0"/>
              <a:t>preprocess (filter, </a:t>
            </a:r>
            <a:r>
              <a:rPr lang="en-US" sz="1200" dirty="0" err="1"/>
              <a:t>rc</a:t>
            </a:r>
            <a:r>
              <a:rPr lang="en-US" sz="1200" dirty="0"/>
              <a:t>, etc.)</a:t>
            </a:r>
            <a:endParaRPr lang="en-US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D7B6DF-19BA-44BF-3C1B-1F066EAD3967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112935" y="2776019"/>
            <a:ext cx="463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3A8C7B0-5EE9-44DC-0FD4-D25E5CD6251F}"/>
              </a:ext>
            </a:extLst>
          </p:cNvPr>
          <p:cNvSpPr/>
          <p:nvPr/>
        </p:nvSpPr>
        <p:spPr>
          <a:xfrm>
            <a:off x="8090594" y="2437837"/>
            <a:ext cx="1050759" cy="67636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Step3</a:t>
            </a:r>
            <a:r>
              <a:rPr lang="en-US" sz="1000" b="1" dirty="0"/>
              <a:t>:</a:t>
            </a:r>
          </a:p>
          <a:p>
            <a:pPr algn="ctr"/>
            <a:r>
              <a:rPr lang="en-US" sz="1200" dirty="0"/>
              <a:t>UMI collapse</a:t>
            </a:r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59D1DB-1294-CF51-4FA5-6321EA77B55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627144" y="2776019"/>
            <a:ext cx="463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A0198BF-4523-75D7-FE79-C8F29A34FA43}"/>
              </a:ext>
            </a:extLst>
          </p:cNvPr>
          <p:cNvSpPr txBox="1"/>
          <p:nvPr/>
        </p:nvSpPr>
        <p:spPr>
          <a:xfrm>
            <a:off x="1508479" y="2325302"/>
            <a:ext cx="2133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SIKIpipe</a:t>
            </a:r>
            <a:r>
              <a:rPr lang="en-US" dirty="0"/>
              <a:t>: https://</a:t>
            </a:r>
            <a:r>
              <a:rPr lang="en-US" dirty="0" err="1"/>
              <a:t>github.com</a:t>
            </a:r>
            <a:r>
              <a:rPr lang="en-US" dirty="0"/>
              <a:t>/hukai916/sikipipe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56A0BBD-6C3A-22BB-AB20-B19BB52C9ED5}"/>
              </a:ext>
            </a:extLst>
          </p:cNvPr>
          <p:cNvSpPr/>
          <p:nvPr/>
        </p:nvSpPr>
        <p:spPr>
          <a:xfrm>
            <a:off x="9604803" y="2558607"/>
            <a:ext cx="798093" cy="45672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fastq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969645-B30D-4DE6-26BD-893E71F9A4C6}"/>
              </a:ext>
            </a:extLst>
          </p:cNvPr>
          <p:cNvCxnSpPr>
            <a:cxnSpLocks/>
          </p:cNvCxnSpPr>
          <p:nvPr/>
        </p:nvCxnSpPr>
        <p:spPr>
          <a:xfrm>
            <a:off x="9141353" y="2786968"/>
            <a:ext cx="463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793DBEE-7933-C9B4-1340-1FCAD1AE1D6A}"/>
              </a:ext>
            </a:extLst>
          </p:cNvPr>
          <p:cNvSpPr txBox="1"/>
          <p:nvPr/>
        </p:nvSpPr>
        <p:spPr>
          <a:xfrm>
            <a:off x="1530747" y="4171019"/>
            <a:ext cx="2133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SIKIclass</a:t>
            </a:r>
            <a:r>
              <a:rPr lang="en-US" dirty="0"/>
              <a:t>: https://</a:t>
            </a:r>
            <a:r>
              <a:rPr lang="en-US" dirty="0" err="1"/>
              <a:t>github.com</a:t>
            </a:r>
            <a:r>
              <a:rPr lang="en-US" dirty="0"/>
              <a:t>/hukai916/sikiclass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848FC3C-54D9-5440-1422-B7EAB13BA9EA}"/>
              </a:ext>
            </a:extLst>
          </p:cNvPr>
          <p:cNvSpPr/>
          <p:nvPr/>
        </p:nvSpPr>
        <p:spPr>
          <a:xfrm>
            <a:off x="8090594" y="4305449"/>
            <a:ext cx="1050759" cy="676364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Step1</a:t>
            </a:r>
            <a:r>
              <a:rPr lang="en-US" sz="1000" b="1" dirty="0"/>
              <a:t>:</a:t>
            </a:r>
          </a:p>
          <a:p>
            <a:pPr algn="ctr"/>
            <a:r>
              <a:rPr lang="en-US" sz="1200" dirty="0"/>
              <a:t>classify by tag (BWA)</a:t>
            </a:r>
            <a:endParaRPr lang="en-US" sz="1000" dirty="0"/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C029C32-3DDF-B493-3D68-95BA67E57759}"/>
              </a:ext>
            </a:extLst>
          </p:cNvPr>
          <p:cNvCxnSpPr>
            <a:cxnSpLocks/>
            <a:stCxn id="19" idx="2"/>
            <a:endCxn id="45" idx="3"/>
          </p:cNvCxnSpPr>
          <p:nvPr/>
        </p:nvCxnSpPr>
        <p:spPr>
          <a:xfrm rot="5400000">
            <a:off x="8758451" y="3398231"/>
            <a:ext cx="1628303" cy="862497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2A6A9C7-0469-CC5D-3E61-DCE99271CE8C}"/>
              </a:ext>
            </a:extLst>
          </p:cNvPr>
          <p:cNvSpPr/>
          <p:nvPr/>
        </p:nvSpPr>
        <p:spPr>
          <a:xfrm>
            <a:off x="6566151" y="3724513"/>
            <a:ext cx="1050759" cy="676364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Step2</a:t>
            </a:r>
            <a:r>
              <a:rPr lang="en-US" sz="1000" b="1" dirty="0"/>
              <a:t>:</a:t>
            </a:r>
          </a:p>
          <a:p>
            <a:pPr algn="ctr"/>
            <a:r>
              <a:rPr lang="en-US" sz="900" dirty="0"/>
              <a:t>classify tag reads (minimap2)</a:t>
            </a:r>
            <a:endParaRPr lang="en-US" sz="6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4500B28-223B-8075-1858-DADC9F60E02E}"/>
              </a:ext>
            </a:extLst>
          </p:cNvPr>
          <p:cNvCxnSpPr>
            <a:cxnSpLocks/>
            <a:stCxn id="45" idx="1"/>
            <a:endCxn id="54" idx="3"/>
          </p:cNvCxnSpPr>
          <p:nvPr/>
        </p:nvCxnSpPr>
        <p:spPr>
          <a:xfrm flipH="1" flipV="1">
            <a:off x="7616910" y="4062695"/>
            <a:ext cx="473684" cy="580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9779483-521D-31FE-4EC5-57492C60539F}"/>
              </a:ext>
            </a:extLst>
          </p:cNvPr>
          <p:cNvSpPr/>
          <p:nvPr/>
        </p:nvSpPr>
        <p:spPr>
          <a:xfrm>
            <a:off x="6566150" y="4915761"/>
            <a:ext cx="1050759" cy="676364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Step3</a:t>
            </a:r>
            <a:r>
              <a:rPr lang="en-US" sz="1000" b="1" dirty="0"/>
              <a:t>:</a:t>
            </a:r>
          </a:p>
          <a:p>
            <a:pPr algn="ctr"/>
            <a:r>
              <a:rPr lang="en-US" sz="900" dirty="0"/>
              <a:t>classify no-tag reads (minimap2)</a:t>
            </a:r>
            <a:endParaRPr lang="en-US" sz="6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0F70F62-E5A0-60D1-A14C-2C6F3143C297}"/>
              </a:ext>
            </a:extLst>
          </p:cNvPr>
          <p:cNvCxnSpPr>
            <a:cxnSpLocks/>
            <a:stCxn id="45" idx="1"/>
            <a:endCxn id="60" idx="3"/>
          </p:cNvCxnSpPr>
          <p:nvPr/>
        </p:nvCxnSpPr>
        <p:spPr>
          <a:xfrm flipH="1">
            <a:off x="7616909" y="4643631"/>
            <a:ext cx="473685" cy="610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399AD411-E53F-B8E0-05FC-E202B1160817}"/>
              </a:ext>
            </a:extLst>
          </p:cNvPr>
          <p:cNvSpPr/>
          <p:nvPr/>
        </p:nvSpPr>
        <p:spPr>
          <a:xfrm>
            <a:off x="5062176" y="3709825"/>
            <a:ext cx="1050759" cy="676364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Step4</a:t>
            </a:r>
            <a:r>
              <a:rPr lang="en-US" sz="1000" b="1" dirty="0"/>
              <a:t>:</a:t>
            </a:r>
          </a:p>
          <a:p>
            <a:pPr algn="ctr"/>
            <a:r>
              <a:rPr lang="en-US" sz="1050" dirty="0"/>
              <a:t>classify precise-tag reads (SNP)</a:t>
            </a:r>
            <a:endParaRPr lang="en-US" sz="8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456F829-E3B5-0C7E-C8AE-A9B655DCAF71}"/>
              </a:ext>
            </a:extLst>
          </p:cNvPr>
          <p:cNvCxnSpPr>
            <a:cxnSpLocks/>
            <a:stCxn id="54" idx="1"/>
            <a:endCxn id="65" idx="3"/>
          </p:cNvCxnSpPr>
          <p:nvPr/>
        </p:nvCxnSpPr>
        <p:spPr>
          <a:xfrm flipH="1" flipV="1">
            <a:off x="6112935" y="4048007"/>
            <a:ext cx="453216" cy="1468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D2449110-B775-42A6-EED7-6ADAF83B0C5C}"/>
              </a:ext>
            </a:extLst>
          </p:cNvPr>
          <p:cNvSpPr/>
          <p:nvPr/>
        </p:nvSpPr>
        <p:spPr>
          <a:xfrm>
            <a:off x="5188508" y="5025582"/>
            <a:ext cx="798093" cy="45672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Count table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28FD91E-2313-BC8B-8469-64FFC0BB651B}"/>
              </a:ext>
            </a:extLst>
          </p:cNvPr>
          <p:cNvCxnSpPr>
            <a:cxnSpLocks/>
            <a:stCxn id="65" idx="2"/>
            <a:endCxn id="69" idx="0"/>
          </p:cNvCxnSpPr>
          <p:nvPr/>
        </p:nvCxnSpPr>
        <p:spPr>
          <a:xfrm flipH="1">
            <a:off x="5587555" y="4386189"/>
            <a:ext cx="1" cy="63939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B5CA5E7-BA00-375C-C449-824DC11EF267}"/>
              </a:ext>
            </a:extLst>
          </p:cNvPr>
          <p:cNvCxnSpPr>
            <a:cxnSpLocks/>
            <a:stCxn id="60" idx="1"/>
            <a:endCxn id="69" idx="3"/>
          </p:cNvCxnSpPr>
          <p:nvPr/>
        </p:nvCxnSpPr>
        <p:spPr>
          <a:xfrm flipH="1">
            <a:off x="5986601" y="5253943"/>
            <a:ext cx="5795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205EB13B-95DF-22C2-FB04-78085C7949E6}"/>
              </a:ext>
            </a:extLst>
          </p:cNvPr>
          <p:cNvSpPr/>
          <p:nvPr/>
        </p:nvSpPr>
        <p:spPr>
          <a:xfrm>
            <a:off x="1222103" y="2069463"/>
            <a:ext cx="9528995" cy="141481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402E3FD-5807-68C5-B63E-64FE353AA72B}"/>
              </a:ext>
            </a:extLst>
          </p:cNvPr>
          <p:cNvSpPr/>
          <p:nvPr/>
        </p:nvSpPr>
        <p:spPr>
          <a:xfrm>
            <a:off x="1222102" y="3616526"/>
            <a:ext cx="9528995" cy="211744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D949-5008-CF16-9A0A-6796D7C10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C6BA-765E-C27C-7684-2BD9333C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SIKIclass</a:t>
            </a:r>
            <a:r>
              <a:rPr lang="en-US" dirty="0"/>
              <a:t> pipeline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1F71F0-C3C0-D9CB-E15A-0E85B3D6F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376" y="599130"/>
            <a:ext cx="5988424" cy="58937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25F78F-5913-32C0-31B9-B9C1BBA0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89756"/>
            <a:ext cx="4847216" cy="2728233"/>
          </a:xfrm>
        </p:spPr>
        <p:txBody>
          <a:bodyPr>
            <a:normAutofit fontScale="92500"/>
          </a:bodyPr>
          <a:lstStyle/>
          <a:p>
            <a:r>
              <a:rPr lang="en-US" dirty="0"/>
              <a:t>Powered by Nextflow</a:t>
            </a:r>
          </a:p>
          <a:p>
            <a:r>
              <a:rPr lang="en-US" dirty="0"/>
              <a:t>Take input from </a:t>
            </a:r>
            <a:r>
              <a:rPr lang="en-US" dirty="0" err="1"/>
              <a:t>SIKIpipe</a:t>
            </a:r>
            <a:r>
              <a:rPr lang="en-US" dirty="0"/>
              <a:t> output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Categories</a:t>
            </a:r>
          </a:p>
          <a:p>
            <a:pPr lvl="1"/>
            <a:r>
              <a:rPr lang="en-US" dirty="0"/>
              <a:t>Summary tables</a:t>
            </a:r>
          </a:p>
          <a:p>
            <a:pPr lvl="1"/>
            <a:r>
              <a:rPr lang="en-US" dirty="0"/>
              <a:t>Fastq files for each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1C533D-849E-8E05-94B7-919BE175FA82}"/>
              </a:ext>
            </a:extLst>
          </p:cNvPr>
          <p:cNvSpPr txBox="1"/>
          <p:nvPr/>
        </p:nvSpPr>
        <p:spPr>
          <a:xfrm>
            <a:off x="-2058" y="6542214"/>
            <a:ext cx="5599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/hukai916/</a:t>
            </a:r>
            <a:r>
              <a:rPr lang="en-US" dirty="0" err="1"/>
              <a:t>sikiclass?tab</a:t>
            </a:r>
            <a:r>
              <a:rPr lang="en-US" dirty="0"/>
              <a:t>=readme-</a:t>
            </a:r>
            <a:r>
              <a:rPr lang="en-US" dirty="0" err="1"/>
              <a:t>ov</a:t>
            </a:r>
            <a:r>
              <a:rPr lang="en-US" dirty="0"/>
              <a:t>-file</a:t>
            </a:r>
          </a:p>
        </p:txBody>
      </p:sp>
    </p:spTree>
    <p:extLst>
      <p:ext uri="{BB962C8B-B14F-4D97-AF65-F5344CB8AC3E}">
        <p14:creationId xmlns:p14="http://schemas.microsoft.com/office/powerpoint/2010/main" val="4258255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63A9-3826-7BA3-6501-4D7FBB1B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C8A3-DB73-809C-C652-EBFFB24B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Step1: classify reads by tag occurrence (BWA)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6CC3BC-57BF-A062-B74B-F9A233D8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094" y="3028013"/>
            <a:ext cx="3730229" cy="1573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BWA search:</a:t>
            </a:r>
          </a:p>
          <a:p>
            <a:r>
              <a:rPr lang="en-US" dirty="0">
                <a:highlight>
                  <a:srgbClr val="FFFF00"/>
                </a:highlight>
              </a:rPr>
              <a:t>Reference</a:t>
            </a:r>
            <a:r>
              <a:rPr lang="en-US" dirty="0"/>
              <a:t>: each read</a:t>
            </a:r>
          </a:p>
          <a:p>
            <a:r>
              <a:rPr lang="en-US" dirty="0">
                <a:highlight>
                  <a:srgbClr val="FFFF00"/>
                </a:highlight>
              </a:rPr>
              <a:t>Query</a:t>
            </a:r>
            <a:r>
              <a:rPr lang="en-US" dirty="0"/>
              <a:t>: tag sequence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EF7397-A7D9-7D9C-50FC-FEF05749E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506" y="1715345"/>
            <a:ext cx="7772400" cy="477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30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3877D-44F1-CE00-8F84-A695FF1F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8C96-7EE4-66FD-8FEB-2E0E5FCD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Step2: find INDEL locations for tag reads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34CF39-5D9A-A772-9B33-EB4D8CA5D19C}"/>
              </a:ext>
            </a:extLst>
          </p:cNvPr>
          <p:cNvSpPr txBox="1">
            <a:spLocks/>
          </p:cNvSpPr>
          <p:nvPr/>
        </p:nvSpPr>
        <p:spPr>
          <a:xfrm>
            <a:off x="186059" y="2515446"/>
            <a:ext cx="3941311" cy="2704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5100" b="1" dirty="0"/>
              <a:t>Minimap2 search:</a:t>
            </a:r>
          </a:p>
          <a:p>
            <a:r>
              <a:rPr lang="en-US" sz="3200" dirty="0">
                <a:highlight>
                  <a:srgbClr val="FFFF00"/>
                </a:highlight>
              </a:rPr>
              <a:t>Reference</a:t>
            </a:r>
            <a:r>
              <a:rPr lang="en-US" sz="3200" dirty="0"/>
              <a:t>: expected editing outcome (tag + flanking sequences)</a:t>
            </a:r>
          </a:p>
          <a:p>
            <a:r>
              <a:rPr lang="en-US" sz="3200" dirty="0">
                <a:highlight>
                  <a:srgbClr val="FFFF00"/>
                </a:highlight>
              </a:rPr>
              <a:t>Query</a:t>
            </a:r>
            <a:r>
              <a:rPr lang="en-US" sz="3200" dirty="0"/>
              <a:t>: reads</a:t>
            </a:r>
          </a:p>
          <a:p>
            <a:endParaRPr lang="en-US" sz="3200" dirty="0"/>
          </a:p>
          <a:p>
            <a:r>
              <a:rPr lang="en-US" sz="3200" dirty="0"/>
              <a:t>INDEL locations can be determined by parsing the CIGAR strings:</a:t>
            </a:r>
          </a:p>
          <a:p>
            <a:pPr lvl="1"/>
            <a:r>
              <a:rPr lang="en-US" sz="2900" dirty="0"/>
              <a:t>directly from aligned region</a:t>
            </a:r>
          </a:p>
          <a:p>
            <a:pPr lvl="1"/>
            <a:r>
              <a:rPr lang="en-US" sz="2900" dirty="0"/>
              <a:t>infer from un-aligned region (clipped)</a:t>
            </a:r>
            <a:endParaRPr lang="en-US"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7162F-605E-96B3-9761-8074101E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41" y="1888266"/>
            <a:ext cx="7772400" cy="395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43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96B0-B367-36F9-2E35-973C0F3A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80BB-718D-CFD8-B08F-F4AEE47C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Step3: find INDEL locations for no-tag reads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6E9B6C-4C7B-8B1C-1AF9-204C78FB365C}"/>
              </a:ext>
            </a:extLst>
          </p:cNvPr>
          <p:cNvSpPr txBox="1">
            <a:spLocks/>
          </p:cNvSpPr>
          <p:nvPr/>
        </p:nvSpPr>
        <p:spPr>
          <a:xfrm>
            <a:off x="186059" y="2515446"/>
            <a:ext cx="11167741" cy="2599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Minimap2 search:</a:t>
            </a:r>
          </a:p>
          <a:p>
            <a:r>
              <a:rPr lang="en-US" dirty="0"/>
              <a:t>Like Step2</a:t>
            </a:r>
          </a:p>
          <a:p>
            <a:r>
              <a:rPr lang="en-US" dirty="0"/>
              <a:t>Since we obtain the size and location of INDELs, we can also optionally filter out ”natural INDELs” that occur in control </a:t>
            </a:r>
            <a:r>
              <a:rPr lang="en-US" dirty="0" err="1"/>
              <a:t>saamples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29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8B9B-E89E-9314-70AF-5FE8F6A67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B9ED-EEA1-2932-E50F-301283C1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Step4: further split precise-tag reads by SNP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4376CF-EE0F-8AF3-47FE-F73D2A9B4C2A}"/>
              </a:ext>
            </a:extLst>
          </p:cNvPr>
          <p:cNvSpPr txBox="1">
            <a:spLocks/>
          </p:cNvSpPr>
          <p:nvPr/>
        </p:nvSpPr>
        <p:spPr>
          <a:xfrm>
            <a:off x="838200" y="3136479"/>
            <a:ext cx="4970557" cy="1666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Given SNP position, by parsing the BAM file, we can determine the SNP species for each read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A08E0-4485-14A3-169F-A316A05CB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98" y="1690688"/>
            <a:ext cx="43688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33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3149D-1374-AF3D-1E57-C0E8FA7D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809F-29CE-722D-EB66-6BBB34B8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output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00F35-9ACF-EFBF-7645-2120F7671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809"/>
          <a:stretch/>
        </p:blipFill>
        <p:spPr>
          <a:xfrm>
            <a:off x="418893" y="2490657"/>
            <a:ext cx="4419508" cy="2855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E5632C-E975-272D-DDFE-7E1F1BEED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291" y="1367770"/>
            <a:ext cx="6344816" cy="493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1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3604</TotalTime>
  <Words>905</Words>
  <Application>Microsoft Macintosh PowerPoint</Application>
  <PresentationFormat>Widescreen</PresentationFormat>
  <Paragraphs>136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Quantifying CRISPR Knock-in Outcome Spectrum </vt:lpstr>
      <vt:lpstr>A collaboration with Lawson Lab</vt:lpstr>
      <vt:lpstr>Quantifying editing outcome: practical concerns</vt:lpstr>
      <vt:lpstr>How does knock-knock work</vt:lpstr>
      <vt:lpstr>Issues when running knock-knock</vt:lpstr>
      <vt:lpstr>How does CrisprVRriants work</vt:lpstr>
      <vt:lpstr>How does CrisprVRriants work, Cont’d</vt:lpstr>
      <vt:lpstr>Issues when running CrispRVariants</vt:lpstr>
      <vt:lpstr>The need of in-house scripts</vt:lpstr>
      <vt:lpstr>Workflow overview</vt:lpstr>
      <vt:lpstr>SIKIclass pipeline</vt:lpstr>
      <vt:lpstr>Step1: classify reads by tag occurrence (BWA)</vt:lpstr>
      <vt:lpstr>Step2: find INDEL locations for tag reads</vt:lpstr>
      <vt:lpstr>Step3: find INDEL locations for no-tag reads</vt:lpstr>
      <vt:lpstr>Step4: further split precise-tag reads by SNP</vt:lpstr>
      <vt:lpstr>Example output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 siki-project</dc:title>
  <dc:creator>Hu, Kai</dc:creator>
  <cp:lastModifiedBy>Hu, Kai</cp:lastModifiedBy>
  <cp:revision>126</cp:revision>
  <dcterms:created xsi:type="dcterms:W3CDTF">2023-10-23T13:31:16Z</dcterms:created>
  <dcterms:modified xsi:type="dcterms:W3CDTF">2024-10-29T20:54:06Z</dcterms:modified>
</cp:coreProperties>
</file>